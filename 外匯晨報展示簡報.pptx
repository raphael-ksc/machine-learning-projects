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3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18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先看大圖：黃金2026年上半年從高點回落約29%，幾乎全部原因是市場從定價降息翻轉成定價升息，實質利率上行構成核心逆風。但關鍵在於——7月開始，利率繼續創高，金價卻不跟跌了，在四千美元附近展現明顯韌性。UBS把這輪定性為rates-driven compression，也就是利率驅動的估值壓縮，不是需求消失。這很重要，因為它意味著底層支撐還在。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1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381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23637;&#31034;_&#22806;&#21295;&#26216;&#22577;_20260814.html" TargetMode="Externa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10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obot Wallpapers (56 images) - WallpaperCat">
            <a:extLst>
              <a:ext uri="{FF2B5EF4-FFF2-40B4-BE49-F238E27FC236}">
                <a16:creationId xmlns:a16="http://schemas.microsoft.com/office/drawing/2014/main" id="{26677638-87B8-451E-B95A-D51E54DF02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95"/>
          <a:stretch/>
        </p:blipFill>
        <p:spPr bwMode="auto">
          <a:xfrm>
            <a:off x="1" y="0"/>
            <a:ext cx="12192000" cy="69427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/>
          <p:cNvSpPr/>
          <p:nvPr/>
        </p:nvSpPr>
        <p:spPr>
          <a:xfrm>
            <a:off x="-1" y="0"/>
            <a:ext cx="12188952" cy="6942755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0"/>
                  <a:lumOff val="100000"/>
                </a:schemeClr>
              </a:gs>
              <a:gs pos="55000">
                <a:schemeClr val="tx2">
                  <a:lumMod val="75000"/>
                  <a:alpha val="68000"/>
                </a:schemeClr>
              </a:gs>
              <a:gs pos="100000">
                <a:schemeClr val="accent1">
                  <a:lumMod val="100000"/>
                  <a:alpha val="84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headEnd type="none"/>
            <a:tailEnd type="none"/>
          </a:ln>
        </p:spPr>
        <p:txBody>
          <a:bodyPr/>
          <a:lstStyle/>
          <a:p>
            <a:endParaRPr lang="zh-TW" alt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1394841" y="2766120"/>
            <a:ext cx="9399271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none" lIns="0" tIns="0" rIns="0" bIns="0" rtlCol="0" anchor="t" anchorCtr="1"/>
          <a:lstStyle/>
          <a:p>
            <a:pPr algn="ctr">
              <a:defRPr/>
            </a:pPr>
            <a:r>
              <a:rPr lang="en-US" altLang="zh-TW" sz="6000" b="1" i="0" strike="noStrike" dirty="0">
                <a:ln/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  <a:cs typeface="Alibaba PuHuiTi 3.0 55 Regular"/>
              </a:rPr>
              <a:t>AI</a:t>
            </a:r>
            <a:r>
              <a:rPr lang="zh-TW" altLang="en-US" sz="6000" b="1" i="0" strike="noStrike" dirty="0">
                <a:ln/>
                <a:solidFill>
                  <a:schemeClr val="accent4">
                    <a:lumMod val="40000"/>
                    <a:lumOff val="60000"/>
                  </a:schemeClr>
                </a:solidFill>
                <a:latin typeface="+mn-ea"/>
                <a:cs typeface="Alibaba PuHuiTi 3.0 55 Regular"/>
              </a:rPr>
              <a:t>自動外匯晨報</a:t>
            </a:r>
            <a:endParaRPr lang="en-US" sz="1200" dirty="0">
              <a:solidFill>
                <a:schemeClr val="accent4">
                  <a:lumMod val="40000"/>
                  <a:lumOff val="60000"/>
                </a:schemeClr>
              </a:solidFill>
              <a:latin typeface="+mn-ea"/>
            </a:endParaRPr>
          </a:p>
        </p:txBody>
      </p:sp>
      <p:pic>
        <p:nvPicPr>
          <p:cNvPr id="1026" name="Picture 2" descr="Richart - Open Account">
            <a:extLst>
              <a:ext uri="{FF2B5EF4-FFF2-40B4-BE49-F238E27FC236}">
                <a16:creationId xmlns:a16="http://schemas.microsoft.com/office/drawing/2014/main" id="{5553A90E-6AB4-4293-9291-B735112330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7210" y="4258841"/>
            <a:ext cx="3287489" cy="2514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 21">
            <a:extLst>
              <a:ext uri="{FF2B5EF4-FFF2-40B4-BE49-F238E27FC236}">
                <a16:creationId xmlns:a16="http://schemas.microsoft.com/office/drawing/2014/main" id="{CEB0DC89-D9CA-4ABA-8F33-3C5E340B33FC}"/>
              </a:ext>
            </a:extLst>
          </p:cNvPr>
          <p:cNvSpPr/>
          <p:nvPr/>
        </p:nvSpPr>
        <p:spPr>
          <a:xfrm>
            <a:off x="3761994" y="6398931"/>
            <a:ext cx="502958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00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台新國際商業銀行 金融交易處 外匯交易部</a:t>
            </a:r>
            <a:endParaRPr lang="en-US" sz="20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DF94AB9A-61BB-489E-A910-BBB4BA4DA95C}"/>
              </a:ext>
            </a:extLst>
          </p:cNvPr>
          <p:cNvSpPr/>
          <p:nvPr/>
        </p:nvSpPr>
        <p:spPr>
          <a:xfrm>
            <a:off x="4056886" y="3817484"/>
            <a:ext cx="40751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00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AI</a:t>
            </a:r>
            <a:r>
              <a:rPr lang="zh-TW" altLang="en-US" sz="200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工作流程完全自動化的作業展示</a:t>
            </a:r>
            <a:endParaRPr lang="en-US" sz="20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從模型到系統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+mn-ea"/>
                <a:cs typeface="Calibri" pitchFamily="34" charset="-120"/>
              </a:rPr>
              <a:t>五個常被搞混的名詞，一張圖看懂彼此的關係</a:t>
            </a:r>
            <a:endParaRPr lang="en-US" sz="14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658368"/>
          </a:xfrm>
          <a:prstGeom prst="roundRect">
            <a:avLst>
              <a:gd name="adj" fmla="val 12500"/>
            </a:avLst>
          </a:prstGeom>
          <a:solidFill>
            <a:srgbClr val="002060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5" name="Image 0" descr="/home/claude/deck/icons/databas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47088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70432" y="174650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雲端資料庫</a:t>
            </a:r>
            <a:endParaRPr lang="en-US" sz="145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70432" y="203911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Supabase — 記憶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5029200" cy="658368"/>
          </a:xfrm>
          <a:prstGeom prst="roundRect">
            <a:avLst>
              <a:gd name="adj" fmla="val 12500"/>
            </a:avLst>
          </a:prstGeom>
          <a:solidFill>
            <a:srgbClr val="002060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9" name="Image 1" descr="/home/claude/deck/icons/cloud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67004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70432" y="25694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雲端平台</a:t>
            </a:r>
            <a:endParaRPr lang="en-US" sz="1450" dirty="0">
              <a:latin typeface="+mn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1170432" y="286207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Render — 24小時運算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548640" y="3337560"/>
            <a:ext cx="5029200" cy="658368"/>
          </a:xfrm>
          <a:prstGeom prst="roundRect">
            <a:avLst>
              <a:gd name="adj" fmla="val 12500"/>
            </a:avLst>
          </a:prstGeom>
          <a:solidFill>
            <a:srgbClr val="002060"/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3" name="Image 2" descr="/home/claude/deck/icons/robo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493008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339242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工作流</a:t>
            </a:r>
            <a:endParaRPr lang="en-US" sz="1450" dirty="0">
              <a:latin typeface="+mn-ea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1170432" y="3685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+mn-ea"/>
                <a:cs typeface="Calibri" pitchFamily="34" charset="-120"/>
              </a:rPr>
              <a:t>Python 自動化排程</a:t>
            </a:r>
            <a:endParaRPr lang="en-US" sz="1400" dirty="0"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5029200" cy="658368"/>
          </a:xfrm>
          <a:prstGeom prst="roundRect">
            <a:avLst>
              <a:gd name="adj" fmla="val 12500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7" name="Image 3" descr="/home/claude/deck/icons/commen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4315968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70432" y="421538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LLM 平台（聊天機器人）</a:t>
            </a:r>
            <a:endParaRPr lang="en-US" sz="1450" dirty="0">
              <a:latin typeface="+mn-ea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1170432" y="450799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latin typeface="+mn-ea"/>
              </a:rPr>
              <a:t>例如</a:t>
            </a:r>
            <a:r>
              <a:rPr lang="en-US" altLang="zh-TW" sz="1400" dirty="0">
                <a:latin typeface="+mn-ea"/>
              </a:rPr>
              <a:t>:</a:t>
            </a:r>
            <a:r>
              <a:rPr lang="zh-TW" altLang="en-US" sz="1400" dirty="0">
                <a:latin typeface="+mn-ea"/>
              </a:rPr>
              <a:t> </a:t>
            </a:r>
            <a:r>
              <a:rPr lang="en-US" altLang="zh-TW" sz="1400" dirty="0" err="1">
                <a:latin typeface="+mn-ea"/>
              </a:rPr>
              <a:t>ChatGPT</a:t>
            </a:r>
            <a:r>
              <a:rPr lang="zh-TW" altLang="en-US" sz="1400" dirty="0">
                <a:latin typeface="+mn-ea"/>
              </a:rPr>
              <a:t>、台新</a:t>
            </a:r>
            <a:r>
              <a:rPr lang="en-US" altLang="zh-TW" sz="1400" dirty="0">
                <a:latin typeface="+mn-ea"/>
              </a:rPr>
              <a:t>AI</a:t>
            </a:r>
            <a:r>
              <a:rPr lang="zh-TW" altLang="en-US" sz="1400" dirty="0">
                <a:latin typeface="+mn-ea"/>
              </a:rPr>
              <a:t>、</a:t>
            </a:r>
            <a:r>
              <a:rPr lang="en-US" altLang="zh-TW" sz="1400" dirty="0">
                <a:latin typeface="+mn-ea"/>
              </a:rPr>
              <a:t>Claude</a:t>
            </a:r>
            <a:r>
              <a:rPr lang="zh-TW" altLang="en-US" sz="1400" dirty="0">
                <a:latin typeface="+mn-ea"/>
              </a:rPr>
              <a:t>平台</a:t>
            </a:r>
            <a:endParaRPr lang="en-US" sz="1400" dirty="0">
              <a:latin typeface="+mn-ea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548640" y="4983480"/>
            <a:ext cx="5029200" cy="658368"/>
          </a:xfrm>
          <a:prstGeom prst="roundRect">
            <a:avLst>
              <a:gd name="adj" fmla="val 12500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21" name="Image 4" descr="/home/claude/deck/icons/br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5138928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70432" y="503834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LLM 模型</a:t>
            </a:r>
            <a:endParaRPr lang="en-US" sz="1450" dirty="0">
              <a:latin typeface="+mn-ea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1170432" y="53309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zh-TW" altLang="en-US" sz="1400" dirty="0">
                <a:latin typeface="+mn-ea"/>
                <a:cs typeface="Calibri" pitchFamily="34" charset="-120"/>
              </a:rPr>
              <a:t>例如</a:t>
            </a:r>
            <a:r>
              <a:rPr lang="en-US" altLang="zh-TW" sz="1400" dirty="0">
                <a:latin typeface="+mn-ea"/>
                <a:cs typeface="Calibri" pitchFamily="34" charset="-120"/>
              </a:rPr>
              <a:t>:</a:t>
            </a:r>
            <a:r>
              <a:rPr lang="zh-TW" altLang="en-US" sz="1400" dirty="0">
                <a:latin typeface="+mn-ea"/>
                <a:cs typeface="Calibri" pitchFamily="34" charset="-120"/>
              </a:rPr>
              <a:t> </a:t>
            </a:r>
            <a:r>
              <a:rPr lang="en-US" altLang="zh-TW" sz="1400" dirty="0">
                <a:latin typeface="+mn-ea"/>
                <a:cs typeface="Calibri" pitchFamily="34" charset="-120"/>
              </a:rPr>
              <a:t>Qwen3.8MAX, Claude Fable5, GPT5</a:t>
            </a:r>
            <a:endParaRPr lang="en-US" sz="1400" dirty="0">
              <a:latin typeface="+mn-ea"/>
            </a:endParaRPr>
          </a:p>
        </p:txBody>
      </p:sp>
      <p:sp>
        <p:nvSpPr>
          <p:cNvPr id="26" name="Text 19"/>
          <p:cNvSpPr/>
          <p:nvPr/>
        </p:nvSpPr>
        <p:spPr>
          <a:xfrm>
            <a:off x="5989320" y="1691640"/>
            <a:ext cx="5623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為什麼還要多寫一層 Python？</a:t>
            </a:r>
            <a:endParaRPr lang="en-US" sz="1900" dirty="0">
              <a:latin typeface="+mn-ea"/>
            </a:endParaRPr>
          </a:p>
        </p:txBody>
      </p:sp>
      <p:pic>
        <p:nvPicPr>
          <p:cNvPr id="27" name="Image 5" descr="/home/claude/dec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223113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9944" y="2185416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排程自動觸發</a:t>
            </a:r>
            <a:endParaRPr lang="en-US" sz="1450" dirty="0">
              <a:latin typeface="+mn-ea"/>
            </a:endParaRPr>
          </a:p>
        </p:txBody>
      </p:sp>
      <p:sp>
        <p:nvSpPr>
          <p:cNvPr id="29" name="Text 21"/>
          <p:cNvSpPr/>
          <p:nvPr/>
        </p:nvSpPr>
        <p:spPr>
          <a:xfrm>
            <a:off x="6409944" y="2505456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每天固定時間自動開始，不用有人手動開對話</a:t>
            </a:r>
            <a:endParaRPr lang="en-US" sz="125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0" name="Image 6" descr="/home/claude/dec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3072384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409944" y="3026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串接外部資料</a:t>
            </a:r>
            <a:endParaRPr lang="en-US" sz="1450" dirty="0">
              <a:latin typeface="+mn-ea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6409944" y="3346704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匯</a:t>
            </a:r>
            <a:r>
              <a:rPr lang="en-US" sz="1250" dirty="0" err="1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價、新聞、經濟日曆</a:t>
            </a:r>
            <a:r>
              <a:rPr 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——</a:t>
            </a:r>
            <a:r>
              <a:rPr lang="en-US" sz="1250" dirty="0" err="1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聊天機器人自己拿不到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，或是會亂抓數字</a:t>
            </a:r>
            <a:endParaRPr lang="en-US" sz="125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pic>
        <p:nvPicPr>
          <p:cNvPr id="33" name="Image 7" descr="/home/claude/deck/icons/che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9320" y="3913632"/>
            <a:ext cx="274320" cy="274320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409944" y="3867912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4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標準化工作流程</a:t>
            </a:r>
            <a:endParaRPr lang="en-US" sz="1450" dirty="0">
              <a:latin typeface="+mn-ea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6409944" y="4187952"/>
            <a:ext cx="5166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就像車廠流程線一樣，標準化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SOP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，指定</a:t>
            </a:r>
            <a:r>
              <a:rPr lang="en-US" altLang="zh-TW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LLM</a:t>
            </a:r>
            <a:r>
              <a:rPr lang="zh-TW" altLang="en-US" sz="1250" dirty="0">
                <a:solidFill>
                  <a:schemeClr val="tx2">
                    <a:lumMod val="50000"/>
                  </a:schemeClr>
                </a:solidFill>
                <a:latin typeface="+mn-ea"/>
                <a:cs typeface="Calibri" pitchFamily="34" charset="-120"/>
              </a:rPr>
              <a:t>在對的環節做對的事情</a:t>
            </a:r>
            <a:endParaRPr lang="en-US" sz="125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5989320" y="4791456"/>
            <a:ext cx="562356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5989320" y="4992624"/>
            <a:ext cx="5623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1E2761"/>
                </a:solidFill>
                <a:latin typeface="+mn-ea"/>
                <a:cs typeface="Cambria" pitchFamily="34" charset="-120"/>
              </a:rPr>
              <a:t>什麼是提示詞工程</a:t>
            </a:r>
            <a:r>
              <a:rPr lang="en-US" sz="17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(Prompt Engineering)？</a:t>
            </a:r>
            <a:endParaRPr lang="en-US" sz="1700" dirty="0">
              <a:latin typeface="+mn-ea"/>
            </a:endParaRPr>
          </a:p>
        </p:txBody>
      </p:sp>
      <p:sp>
        <p:nvSpPr>
          <p:cNvPr id="38" name="Text 28"/>
          <p:cNvSpPr/>
          <p:nvPr/>
        </p:nvSpPr>
        <p:spPr>
          <a:xfrm>
            <a:off x="5989319" y="5394960"/>
            <a:ext cx="58121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把給 AI </a:t>
            </a:r>
            <a:r>
              <a:rPr lang="en-US" sz="130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的指令設計清楚</a:t>
            </a:r>
            <a:r>
              <a:rPr 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、</a:t>
            </a:r>
            <a:r>
              <a:rPr lang="zh-TW" alt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思考路線、</a:t>
            </a:r>
            <a:r>
              <a:rPr lang="en-US" sz="130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格式固定，讓輸出穩定、不容易亂講話</a:t>
            </a:r>
            <a:r>
              <a:rPr lang="en-US" sz="130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。</a:t>
            </a:r>
            <a:endParaRPr lang="en-US" sz="1300" dirty="0">
              <a:latin typeface="+mn-ea"/>
            </a:endParaRPr>
          </a:p>
        </p:txBody>
      </p:sp>
      <p:sp>
        <p:nvSpPr>
          <p:cNvPr id="39" name="Text 29"/>
          <p:cNvSpPr/>
          <p:nvPr/>
        </p:nvSpPr>
        <p:spPr>
          <a:xfrm>
            <a:off x="5989320" y="5742432"/>
            <a:ext cx="5623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例如：晨報要求每個數據都必須標注「來源＋日期」，沒有就不能寫進去。</a:t>
            </a:r>
            <a:endParaRPr lang="en-US" sz="1200" dirty="0">
              <a:latin typeface="+mn-ea"/>
            </a:endParaRPr>
          </a:p>
        </p:txBody>
      </p:sp>
      <p:sp>
        <p:nvSpPr>
          <p:cNvPr id="40" name="Text 3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01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晨報如何自動誕生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  <a:latin typeface="+mn-ea"/>
                <a:cs typeface="Calibri" pitchFamily="34" charset="-120"/>
              </a:rPr>
              <a:t>從資料蒐集到送達信箱與 LINE，</a:t>
            </a:r>
            <a:r>
              <a:rPr lang="en-US" sz="140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全程無人工介入</a:t>
            </a:r>
            <a:endParaRPr lang="en-US" sz="1400" dirty="0">
              <a:solidFill>
                <a:srgbClr val="C00000"/>
              </a:solidFill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75488" y="1627632"/>
            <a:ext cx="5568696" cy="2688336"/>
          </a:xfrm>
          <a:prstGeom prst="roundRect">
            <a:avLst>
              <a:gd name="adj" fmla="val 4082"/>
            </a:avLst>
          </a:prstGeom>
          <a:solidFill>
            <a:schemeClr val="accent1">
              <a:lumMod val="20000"/>
              <a:lumOff val="80000"/>
            </a:schemeClr>
          </a:solidFill>
          <a:ln w="15875">
            <a:solidFill>
              <a:srgbClr val="CADCFC"/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67665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45846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deck/icons/search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060" y="2286000"/>
            <a:ext cx="438912" cy="43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6809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資料蒐集</a:t>
            </a:r>
            <a:endParaRPr lang="en-US" sz="1500" dirty="0">
              <a:latin typeface="+mn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81381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zh-TW" alt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匯</a:t>
            </a:r>
            <a:r>
              <a:rPr lang="en-US" sz="1400" dirty="0" err="1">
                <a:solidFill>
                  <a:srgbClr val="5B6B8C"/>
                </a:solidFill>
                <a:latin typeface="+mn-ea"/>
                <a:cs typeface="Calibri" pitchFamily="34" charset="-120"/>
              </a:rPr>
              <a:t>價、新聞、經濟</a:t>
            </a:r>
            <a:endParaRPr lang="en-US" sz="1400" dirty="0">
              <a:latin typeface="+mn-ea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日曆、總經頭條</a:t>
            </a:r>
            <a:endParaRPr lang="en-US" sz="1400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749808" y="19019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9"/>
          <p:cNvSpPr/>
          <p:nvPr/>
        </p:nvSpPr>
        <p:spPr>
          <a:xfrm>
            <a:off x="74980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1</a:t>
            </a:r>
            <a:endParaRPr lang="en-US" sz="1150" dirty="0">
              <a:latin typeface="+mn-ea"/>
            </a:endParaRPr>
          </a:p>
        </p:txBody>
      </p:sp>
      <p:pic>
        <p:nvPicPr>
          <p:cNvPr id="14" name="Image 2" descr="/home/claude/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2843784"/>
            <a:ext cx="256032" cy="25603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351129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29310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deck/icons/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7700" y="2286000"/>
            <a:ext cx="438912" cy="43891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0273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彙整驗證</a:t>
            </a:r>
            <a:endParaRPr lang="en-US" sz="1500" dirty="0">
              <a:latin typeface="+mn-ea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364845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程式碼核對數字、</a:t>
            </a:r>
            <a:endParaRPr lang="en-US" sz="1400" dirty="0">
              <a:latin typeface="+mn-ea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來源與日期</a:t>
            </a:r>
            <a:endParaRPr lang="en-US" sz="1050" dirty="0">
              <a:latin typeface="+mn-ea"/>
            </a:endParaRPr>
          </a:p>
        </p:txBody>
      </p:sp>
      <p:sp>
        <p:nvSpPr>
          <p:cNvPr id="20" name="Shape 14"/>
          <p:cNvSpPr/>
          <p:nvPr/>
        </p:nvSpPr>
        <p:spPr>
          <a:xfrm>
            <a:off x="3584448" y="1901952"/>
            <a:ext cx="274320" cy="2743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358444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+mn-ea"/>
                <a:cs typeface="Calibri" pitchFamily="34" charset="-120"/>
              </a:rPr>
              <a:t>2</a:t>
            </a:r>
            <a:endParaRPr lang="en-US" sz="1150" dirty="0">
              <a:latin typeface="+mn-ea"/>
            </a:endParaRPr>
          </a:p>
        </p:txBody>
      </p:sp>
      <p:pic>
        <p:nvPicPr>
          <p:cNvPr id="22" name="Image 4" descr="/home/claude/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6460" y="2843784"/>
            <a:ext cx="256032" cy="256032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634593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712774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5" descr="/home/claude/deck/icons/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2340" y="2286000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43737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LLM 生成</a:t>
            </a:r>
            <a:endParaRPr lang="en-US" sz="1500" dirty="0">
              <a:latin typeface="+mn-ea"/>
            </a:endParaRPr>
          </a:p>
        </p:txBody>
      </p:sp>
      <p:sp>
        <p:nvSpPr>
          <p:cNvPr id="27" name="Text 19"/>
          <p:cNvSpPr/>
          <p:nvPr/>
        </p:nvSpPr>
        <p:spPr>
          <a:xfrm>
            <a:off x="648309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Claude 依分析框架</a:t>
            </a:r>
            <a:endParaRPr lang="en-US" sz="1400" dirty="0">
              <a:latin typeface="+mn-ea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撰寫四段晨報</a:t>
            </a:r>
            <a:endParaRPr lang="en-US" sz="1400" dirty="0">
              <a:latin typeface="+mn-ea"/>
            </a:endParaRPr>
          </a:p>
        </p:txBody>
      </p:sp>
      <p:sp>
        <p:nvSpPr>
          <p:cNvPr id="28" name="Shape 20"/>
          <p:cNvSpPr/>
          <p:nvPr/>
        </p:nvSpPr>
        <p:spPr>
          <a:xfrm>
            <a:off x="6419088" y="19019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1"/>
          <p:cNvSpPr/>
          <p:nvPr/>
        </p:nvSpPr>
        <p:spPr>
          <a:xfrm>
            <a:off x="641908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3</a:t>
            </a:r>
            <a:endParaRPr lang="en-US" sz="1150" dirty="0">
              <a:latin typeface="+mn-ea"/>
            </a:endParaRPr>
          </a:p>
        </p:txBody>
      </p:sp>
      <p:pic>
        <p:nvPicPr>
          <p:cNvPr id="30" name="Image 6" descr="/home/claude/deck/icons/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1100" y="2843784"/>
            <a:ext cx="256032" cy="25603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9180576" y="1828800"/>
            <a:ext cx="23317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blurRad="1016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9962388" y="2121408"/>
            <a:ext cx="768096" cy="76809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7" descr="/home/claude/deck/icons/paperplan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6980" y="2286000"/>
            <a:ext cx="438912" cy="43891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9272016" y="2999232"/>
            <a:ext cx="2148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自動送達</a:t>
            </a:r>
            <a:endParaRPr lang="en-US" sz="1500" dirty="0">
              <a:latin typeface="+mn-ea"/>
            </a:endParaRPr>
          </a:p>
        </p:txBody>
      </p:sp>
      <p:sp>
        <p:nvSpPr>
          <p:cNvPr id="35" name="Text 25"/>
          <p:cNvSpPr/>
          <p:nvPr/>
        </p:nvSpPr>
        <p:spPr>
          <a:xfrm>
            <a:off x="9317736" y="3364992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組成內容並</a:t>
            </a:r>
            <a:endParaRPr lang="en-US" sz="1400" dirty="0">
              <a:latin typeface="+mn-ea"/>
            </a:endParaRPr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同步發送</a:t>
            </a:r>
            <a:endParaRPr lang="en-US" sz="1400" dirty="0">
              <a:latin typeface="+mn-ea"/>
            </a:endParaRPr>
          </a:p>
        </p:txBody>
      </p:sp>
      <p:sp>
        <p:nvSpPr>
          <p:cNvPr id="36" name="Shape 26"/>
          <p:cNvSpPr/>
          <p:nvPr/>
        </p:nvSpPr>
        <p:spPr>
          <a:xfrm>
            <a:off x="9253728" y="1901952"/>
            <a:ext cx="274320" cy="27432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27"/>
          <p:cNvSpPr/>
          <p:nvPr/>
        </p:nvSpPr>
        <p:spPr>
          <a:xfrm>
            <a:off x="9253728" y="1901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4</a:t>
            </a:r>
            <a:endParaRPr lang="en-US" sz="1150" dirty="0">
              <a:latin typeface="+mn-ea"/>
            </a:endParaRPr>
          </a:p>
        </p:txBody>
      </p:sp>
      <p:sp>
        <p:nvSpPr>
          <p:cNvPr id="39" name="Shape 29"/>
          <p:cNvSpPr/>
          <p:nvPr/>
        </p:nvSpPr>
        <p:spPr>
          <a:xfrm>
            <a:off x="10346436" y="4133088"/>
            <a:ext cx="0" cy="32004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9386316" y="453009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41" name="Image 8" descr="/home/claude/deck/icons/envelope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0052" y="4621530"/>
            <a:ext cx="274320" cy="27432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10666476" y="4530090"/>
            <a:ext cx="640080" cy="45720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pic>
        <p:nvPicPr>
          <p:cNvPr id="43" name="Image 9" descr="/home/claude/deck/icons/li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0212" y="4621530"/>
            <a:ext cx="274320" cy="27432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386316" y="501472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Email</a:t>
            </a:r>
            <a:endParaRPr lang="en-US" sz="1000" dirty="0">
              <a:latin typeface="+mn-ea"/>
            </a:endParaRPr>
          </a:p>
        </p:txBody>
      </p:sp>
      <p:sp>
        <p:nvSpPr>
          <p:cNvPr id="45" name="Text 33"/>
          <p:cNvSpPr/>
          <p:nvPr/>
        </p:nvSpPr>
        <p:spPr>
          <a:xfrm>
            <a:off x="10666476" y="501472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LINE</a:t>
            </a:r>
            <a:endParaRPr lang="en-US" sz="1000" dirty="0">
              <a:latin typeface="+mn-ea"/>
            </a:endParaRPr>
          </a:p>
        </p:txBody>
      </p:sp>
      <p:sp>
        <p:nvSpPr>
          <p:cNvPr id="46" name="Text 3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F512C673-75FA-47EB-B5A8-46767E4128CB}"/>
              </a:ext>
            </a:extLst>
          </p:cNvPr>
          <p:cNvSpPr/>
          <p:nvPr/>
        </p:nvSpPr>
        <p:spPr>
          <a:xfrm>
            <a:off x="548640" y="4480560"/>
            <a:ext cx="5166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這就是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AI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工作流程強大的地方，我們不需要打開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Claude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聊天機器人去人工下指令、餵資料，它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(AI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zh-TW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Agent)</a:t>
            </a:r>
            <a:r>
              <a:rPr lang="zh-TW" altLang="en-US" sz="1250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自己就會先去做這件事，</a:t>
            </a:r>
            <a:r>
              <a:rPr lang="zh-TW" altLang="en-US" sz="1250" b="1" dirty="0">
                <a:solidFill>
                  <a:srgbClr val="C00000"/>
                </a:solidFill>
                <a:latin typeface="+mn-ea"/>
                <a:cs typeface="Calibri" pitchFamily="34" charset="-120"/>
              </a:rPr>
              <a:t>完全自動化。</a:t>
            </a:r>
            <a:endParaRPr lang="en-US" sz="1250" b="1" dirty="0">
              <a:solidFill>
                <a:srgbClr val="C00000"/>
              </a:solidFill>
              <a:latin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自動化晨報的價值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2060"/>
                </a:solidFill>
                <a:latin typeface="+mn-ea"/>
                <a:cs typeface="Calibri" pitchFamily="34" charset="-120"/>
              </a:rPr>
              <a:t>而且，這是用公開與免費資源就做到的</a:t>
            </a:r>
            <a:endParaRPr lang="en-US" sz="1400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933956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deck/icons/bolt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692" y="195681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9516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自動化</a:t>
            </a:r>
            <a:endParaRPr lang="en-US" sz="1900" dirty="0">
              <a:latin typeface="+mn-ea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9516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不用人工熬夜盯盤、手動整理</a:t>
            </a:r>
            <a:endParaRPr lang="en-US" sz="1250" dirty="0">
              <a:latin typeface="+mn-ea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682996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deck/icons/chartlin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1956816"/>
            <a:ext cx="475488" cy="4754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48556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即時</a:t>
            </a:r>
            <a:endParaRPr lang="en-US" sz="1900" dirty="0">
              <a:latin typeface="+mn-ea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448556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每日</a:t>
            </a: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 07:20–07:40 </a:t>
            </a:r>
            <a:r>
              <a:rPr lang="en-US" sz="1250" dirty="0" err="1">
                <a:solidFill>
                  <a:srgbClr val="333333"/>
                </a:solidFill>
                <a:latin typeface="+mn-ea"/>
                <a:cs typeface="Calibri" pitchFamily="34" charset="-120"/>
              </a:rPr>
              <a:t>送達</a:t>
            </a: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(</a:t>
            </a:r>
            <a:r>
              <a:rPr lang="zh-TW" alt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同事上班前就收到了</a:t>
            </a:r>
            <a:r>
              <a:rPr lang="en-US" altLang="zh-TW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)</a:t>
            </a:r>
            <a:endParaRPr lang="en-US" sz="1250" dirty="0">
              <a:latin typeface="+mn-ea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9432036" y="17830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deck/icons/newspap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772" y="1956816"/>
            <a:ext cx="475488" cy="4754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97596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更全面</a:t>
            </a:r>
            <a:endParaRPr lang="en-US" sz="1900" dirty="0">
              <a:latin typeface="+mn-ea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197596" y="313639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同時掃描多個新聞與數據來源</a:t>
            </a:r>
            <a:endParaRPr lang="en-US" sz="1250" dirty="0">
              <a:latin typeface="+mn-ea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22960" y="3611880"/>
            <a:ext cx="10543032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22960" y="4069080"/>
            <a:ext cx="4480560" cy="1965960"/>
          </a:xfrm>
          <a:prstGeom prst="roundRect">
            <a:avLst>
              <a:gd name="adj" fmla="val 4651"/>
            </a:avLst>
          </a:prstGeom>
          <a:solidFill>
            <a:schemeClr val="tx2">
              <a:lumMod val="50000"/>
            </a:schemeClr>
          </a:solidFill>
          <a:ln/>
        </p:spPr>
      </p:sp>
      <p:sp>
        <p:nvSpPr>
          <p:cNvPr id="18" name="Text 13"/>
          <p:cNvSpPr/>
          <p:nvPr/>
        </p:nvSpPr>
        <p:spPr>
          <a:xfrm>
            <a:off x="1097280" y="4270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現在</a:t>
            </a:r>
            <a:endParaRPr 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1097280" y="4526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FFFFFF"/>
                </a:solidFill>
                <a:latin typeface="+mn-ea"/>
                <a:cs typeface="Cambria" pitchFamily="34" charset="-120"/>
              </a:rPr>
              <a:t>公開＋免費來源</a:t>
            </a:r>
            <a:r>
              <a:rPr lang="zh-TW" altLang="en-US" sz="2000" b="1" dirty="0">
                <a:solidFill>
                  <a:srgbClr val="FFFFFF"/>
                </a:solidFill>
                <a:latin typeface="+mn-ea"/>
                <a:cs typeface="Cambria" pitchFamily="34" charset="-120"/>
              </a:rPr>
              <a:t>的資料來源</a:t>
            </a:r>
            <a:endParaRPr lang="en-US" sz="2000" dirty="0">
              <a:latin typeface="+mn-ea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097280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Twelve </a:t>
            </a:r>
            <a:r>
              <a:rPr lang="en-US" sz="1250" dirty="0" err="1">
                <a:solidFill>
                  <a:schemeClr val="bg1"/>
                </a:solidFill>
                <a:latin typeface="+mn-ea"/>
                <a:cs typeface="Calibri" pitchFamily="34" charset="-120"/>
              </a:rPr>
              <a:t>Data・yFinance・</a:t>
            </a:r>
            <a:r>
              <a:rPr lang="en-US" altLang="zh-TW" sz="1250" dirty="0" err="1">
                <a:solidFill>
                  <a:schemeClr val="bg1"/>
                </a:solidFill>
                <a:latin typeface="+mn-ea"/>
                <a:cs typeface="Calibri" pitchFamily="34" charset="-120"/>
              </a:rPr>
              <a:t>FCS</a:t>
            </a:r>
            <a:r>
              <a:rPr lang="zh-TW" alt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altLang="zh-TW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API,</a:t>
            </a:r>
            <a:r>
              <a:rPr lang="zh-TW" alt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chemeClr val="bg1"/>
                </a:solidFill>
                <a:latin typeface="+mn-ea"/>
                <a:cs typeface="Calibri" pitchFamily="34" charset="-120"/>
              </a:rPr>
              <a:t>ForexFactory</a:t>
            </a:r>
            <a:endParaRPr lang="en-US" sz="1250" dirty="0">
              <a:solidFill>
                <a:schemeClr val="bg1"/>
              </a:solidFill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Reuters／Bloomberg 公開頭條</a:t>
            </a:r>
            <a:endParaRPr lang="en-US" sz="1250" dirty="0">
              <a:solidFill>
                <a:schemeClr val="bg1"/>
              </a:solidFill>
              <a:latin typeface="+mn-ea"/>
            </a:endParaRPr>
          </a:p>
        </p:txBody>
      </p:sp>
      <p:pic>
        <p:nvPicPr>
          <p:cNvPr id="21" name="Image 3" descr="/home/claude/deck/icons/arr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308" y="4850892"/>
            <a:ext cx="402336" cy="402336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6885432" y="4069080"/>
            <a:ext cx="4480560" cy="1965960"/>
          </a:xfrm>
          <a:prstGeom prst="roundRect">
            <a:avLst>
              <a:gd name="adj" fmla="val 4651"/>
            </a:avLst>
          </a:prstGeom>
          <a:solidFill>
            <a:srgbClr val="F4F7FD"/>
          </a:solidFill>
          <a:ln w="19050">
            <a:solidFill>
              <a:srgbClr val="1E2761"/>
            </a:solidFill>
            <a:prstDash val="dash"/>
          </a:ln>
        </p:spPr>
      </p:sp>
      <p:sp>
        <p:nvSpPr>
          <p:cNvPr id="23" name="Text 17"/>
          <p:cNvSpPr/>
          <p:nvPr/>
        </p:nvSpPr>
        <p:spPr>
          <a:xfrm>
            <a:off x="7159752" y="427024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未來規劃</a:t>
            </a:r>
            <a:endParaRPr lang="en-US" sz="16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7159752" y="45262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串接 LSEG Workspace</a:t>
            </a:r>
            <a:endParaRPr lang="en-US" sz="2000" dirty="0">
              <a:latin typeface="+mn-ea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7159752" y="5029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更即時的機構級新聞</a:t>
            </a:r>
            <a:endParaRPr lang="en-US" sz="1250" dirty="0">
              <a:latin typeface="+mn-ea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+mn-ea"/>
                <a:cs typeface="Calibri" pitchFamily="34" charset="-120"/>
              </a:rPr>
              <a:t>更完整的歷史數據與更少空欄位</a:t>
            </a:r>
            <a:endParaRPr lang="en-US" sz="1250" dirty="0">
              <a:latin typeface="+mn-ea"/>
            </a:endParaRPr>
          </a:p>
        </p:txBody>
      </p:sp>
      <p:sp>
        <p:nvSpPr>
          <p:cNvPr id="26" name="Text 20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03</a:t>
            </a:r>
            <a:endParaRPr lang="en-US" sz="1000" dirty="0">
              <a:latin typeface="+mn-ea"/>
            </a:endParaRPr>
          </a:p>
        </p:txBody>
      </p:sp>
      <p:pic>
        <p:nvPicPr>
          <p:cNvPr id="3078" name="Picture 6" descr="Logotipo De Lseg">
            <a:extLst>
              <a:ext uri="{FF2B5EF4-FFF2-40B4-BE49-F238E27FC236}">
                <a16:creationId xmlns:a16="http://schemas.microsoft.com/office/drawing/2014/main" id="{A0CBDE6F-3481-4C7E-BA37-D5B685617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8534" y="4191762"/>
            <a:ext cx="860298" cy="8602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11">
            <a:extLst>
              <a:ext uri="{FF2B5EF4-FFF2-40B4-BE49-F238E27FC236}">
                <a16:creationId xmlns:a16="http://schemas.microsoft.com/office/drawing/2014/main" id="{B866ECEB-D838-420C-90CF-9E904B7B739F}"/>
              </a:ext>
            </a:extLst>
          </p:cNvPr>
          <p:cNvSpPr/>
          <p:nvPr/>
        </p:nvSpPr>
        <p:spPr>
          <a:xfrm>
            <a:off x="786213" y="1391785"/>
            <a:ext cx="2953684" cy="4043340"/>
          </a:xfrm>
          <a:prstGeom prst="roundRect">
            <a:avLst>
              <a:gd name="adj" fmla="val 1074"/>
            </a:avLst>
          </a:prstGeom>
          <a:solidFill>
            <a:schemeClr val="tx2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7E9E49A2-3D71-42E3-8907-0D3D61A966C1}"/>
              </a:ext>
            </a:extLst>
          </p:cNvPr>
          <p:cNvSpPr/>
          <p:nvPr/>
        </p:nvSpPr>
        <p:spPr>
          <a:xfrm>
            <a:off x="4362736" y="1223160"/>
            <a:ext cx="7639939" cy="4263240"/>
          </a:xfrm>
          <a:prstGeom prst="roundRect">
            <a:avLst>
              <a:gd name="adj" fmla="val 1074"/>
            </a:avLst>
          </a:prstGeom>
          <a:solidFill>
            <a:schemeClr val="accent6">
              <a:lumMod val="20000"/>
              <a:lumOff val="80000"/>
            </a:schemeClr>
          </a:solidFill>
          <a:ln/>
          <a:effectLst>
            <a:outerShdw blurRad="762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實際畫面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latin typeface="+mn-ea"/>
                <a:cs typeface="Calibri" pitchFamily="34" charset="-120"/>
              </a:rPr>
              <a:t>從系統生成，到使用者手中收到的內容</a:t>
            </a:r>
            <a:endParaRPr lang="en-US" sz="1350" dirty="0">
              <a:latin typeface="+mn-ea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356616" y="54864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Email 晨報</a:t>
            </a:r>
            <a:endParaRPr lang="en-US" sz="1500" dirty="0">
              <a:latin typeface="+mn-ea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56616" y="581558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同步寄送到指定信箱</a:t>
            </a:r>
            <a:endParaRPr lang="en-US" sz="1150" dirty="0">
              <a:latin typeface="+mn-ea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7030361" y="55412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LINE 官方帳號</a:t>
            </a:r>
            <a:endParaRPr lang="en-US" sz="1500" dirty="0">
              <a:latin typeface="+mn-ea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7030361" y="58704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 err="1">
                <a:solidFill>
                  <a:srgbClr val="5B6B8C"/>
                </a:solidFill>
                <a:latin typeface="+mn-ea"/>
                <a:cs typeface="Calibri" pitchFamily="34" charset="-120"/>
              </a:rPr>
              <a:t>推播訊息＋點開落地頁</a:t>
            </a:r>
            <a:r>
              <a:rPr lang="en-US" altLang="zh-TW" sz="115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(HTML</a:t>
            </a:r>
            <a:r>
              <a:rPr lang="zh-TW" altLang="en-US" sz="115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檔案</a:t>
            </a:r>
            <a:r>
              <a:rPr lang="en-US" altLang="zh-TW" sz="115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)</a:t>
            </a:r>
            <a:endParaRPr lang="en-US" sz="1150" dirty="0">
              <a:latin typeface="+mn-ea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BC1F5427-C67B-458E-8609-EE1C123B55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11" r="10156" b="4683"/>
          <a:stretch/>
        </p:blipFill>
        <p:spPr bwMode="auto">
          <a:xfrm>
            <a:off x="4511290" y="1391785"/>
            <a:ext cx="3671416" cy="396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ABDEC39F-E00D-48FA-B414-3C63B69EA4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756" y="1449495"/>
            <a:ext cx="2752598" cy="3810570"/>
          </a:xfrm>
          <a:prstGeom prst="rect">
            <a:avLst/>
          </a:prstGeom>
        </p:spPr>
      </p:pic>
      <p:pic>
        <p:nvPicPr>
          <p:cNvPr id="29" name="圖片 28">
            <a:extLst>
              <a:ext uri="{FF2B5EF4-FFF2-40B4-BE49-F238E27FC236}">
                <a16:creationId xmlns:a16="http://schemas.microsoft.com/office/drawing/2014/main" id="{B037ADE2-93D2-411B-A86E-B50FC5F440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4842" y="1391785"/>
            <a:ext cx="3695937" cy="3960862"/>
          </a:xfrm>
          <a:prstGeom prst="rect">
            <a:avLst/>
          </a:prstGeom>
        </p:spPr>
      </p:pic>
      <p:sp>
        <p:nvSpPr>
          <p:cNvPr id="33" name="Text 1">
            <a:hlinkClick r:id="rId6" action="ppaction://hlinkfile"/>
            <a:extLst>
              <a:ext uri="{FF2B5EF4-FFF2-40B4-BE49-F238E27FC236}">
                <a16:creationId xmlns:a16="http://schemas.microsoft.com/office/drawing/2014/main" id="{EF512DFD-D043-4518-A13F-E2DF14DC14FF}"/>
              </a:ext>
            </a:extLst>
          </p:cNvPr>
          <p:cNvSpPr/>
          <p:nvPr/>
        </p:nvSpPr>
        <p:spPr>
          <a:xfrm>
            <a:off x="5396502" y="6285090"/>
            <a:ext cx="1398995" cy="365760"/>
          </a:xfrm>
          <a:prstGeom prst="rect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3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實際展示</a:t>
            </a:r>
            <a:r>
              <a:rPr lang="en-US" altLang="zh-TW" sz="13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(LINK)</a:t>
            </a:r>
            <a:endParaRPr lang="en-US" sz="1350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761"/>
                </a:solidFill>
                <a:latin typeface="+mn-ea"/>
                <a:cs typeface="Cambria" pitchFamily="34" charset="-120"/>
              </a:rPr>
              <a:t>技術附註：用到的工具</a:t>
            </a:r>
            <a:endParaRPr lang="en-US" sz="3400" dirty="0">
              <a:latin typeface="+mn-ea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B6B8C"/>
                </a:solidFill>
                <a:latin typeface="+mn-ea"/>
                <a:cs typeface="Calibri" pitchFamily="34" charset="-120"/>
              </a:rPr>
              <a:t>每一項都用一句話比喻，方便理解各自的角色</a:t>
            </a:r>
            <a:endParaRPr lang="en-US" sz="1400" dirty="0">
              <a:latin typeface="+mn-ea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0807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github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2176272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523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GitHub</a:t>
            </a:r>
            <a:endParaRPr lang="en-US" sz="1400" dirty="0">
              <a:latin typeface="+mn-ea"/>
            </a:endParaRPr>
          </a:p>
        </p:txBody>
      </p:sp>
      <p:sp>
        <p:nvSpPr>
          <p:cNvPr id="8" name="Text 5"/>
          <p:cNvSpPr/>
          <p:nvPr/>
        </p:nvSpPr>
        <p:spPr>
          <a:xfrm>
            <a:off x="79095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程式碼的雲端保險箱，記錄每次修改歷史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39699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10" name="Shape 7"/>
          <p:cNvSpPr/>
          <p:nvPr/>
        </p:nvSpPr>
        <p:spPr>
          <a:xfrm>
            <a:off x="438912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database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176272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3415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Supabase</a:t>
            </a:r>
            <a:endParaRPr lang="en-US" sz="1400" dirty="0">
              <a:latin typeface="+mn-ea"/>
            </a:endParaRPr>
          </a:p>
        </p:txBody>
      </p:sp>
      <p:sp>
        <p:nvSpPr>
          <p:cNvPr id="13" name="Text 9"/>
          <p:cNvSpPr/>
          <p:nvPr/>
        </p:nvSpPr>
        <p:spPr>
          <a:xfrm>
            <a:off x="357987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雲端版 Excel，存放晨報內容與設定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18591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ck/icons/serv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176272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307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Render</a:t>
            </a:r>
            <a:endParaRPr lang="en-US" sz="1400" dirty="0">
              <a:latin typeface="+mn-ea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36879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讓程式 24 小時自動運作的廠房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974836" y="17830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20" name="Shape 15"/>
          <p:cNvSpPr/>
          <p:nvPr/>
        </p:nvSpPr>
        <p:spPr>
          <a:xfrm>
            <a:off x="9966960" y="203911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ck/icons/paperplan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4120" y="21762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1996" y="278892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Resend</a:t>
            </a:r>
            <a:endParaRPr lang="en-US" sz="1400" dirty="0">
              <a:latin typeface="+mn-ea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9157716" y="309981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確保信真的送到收件匣的郵局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60807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25" name="Shape 19"/>
          <p:cNvSpPr/>
          <p:nvPr/>
        </p:nvSpPr>
        <p:spPr>
          <a:xfrm>
            <a:off x="160020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icons/glob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37360" y="455371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523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Namecheap</a:t>
            </a:r>
            <a:endParaRPr lang="en-US" sz="1400" dirty="0">
              <a:latin typeface="+mn-ea"/>
            </a:endParaRPr>
          </a:p>
        </p:txBody>
      </p:sp>
      <p:sp>
        <p:nvSpPr>
          <p:cNvPr id="28" name="Text 21"/>
          <p:cNvSpPr/>
          <p:nvPr/>
        </p:nvSpPr>
        <p:spPr>
          <a:xfrm>
            <a:off x="79095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網域申請處，給系統一個好記的網址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29" name="Shape 22"/>
          <p:cNvSpPr/>
          <p:nvPr/>
        </p:nvSpPr>
        <p:spPr>
          <a:xfrm>
            <a:off x="339699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30" name="Shape 23"/>
          <p:cNvSpPr/>
          <p:nvPr/>
        </p:nvSpPr>
        <p:spPr>
          <a:xfrm>
            <a:off x="438912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eck/icons/pytho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4553712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3415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Python</a:t>
            </a:r>
            <a:endParaRPr lang="en-US" sz="1400" dirty="0">
              <a:latin typeface="+mn-ea"/>
            </a:endParaRPr>
          </a:p>
        </p:txBody>
      </p:sp>
      <p:sp>
        <p:nvSpPr>
          <p:cNvPr id="33" name="Text 25"/>
          <p:cNvSpPr/>
          <p:nvPr/>
        </p:nvSpPr>
        <p:spPr>
          <a:xfrm>
            <a:off x="357987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把所有零件串起來的組裝說明書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4" name="Shape 26"/>
          <p:cNvSpPr/>
          <p:nvPr/>
        </p:nvSpPr>
        <p:spPr>
          <a:xfrm>
            <a:off x="618591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35" name="Shape 27"/>
          <p:cNvSpPr/>
          <p:nvPr/>
        </p:nvSpPr>
        <p:spPr>
          <a:xfrm>
            <a:off x="717804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6" name="Image 6" descr="/home/claude/deck/icons/lin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0" y="4553712"/>
            <a:ext cx="347472" cy="34747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2307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LINE API</a:t>
            </a:r>
            <a:endParaRPr lang="en-US" sz="1400" dirty="0">
              <a:latin typeface="+mn-ea"/>
            </a:endParaRPr>
          </a:p>
        </p:txBody>
      </p:sp>
      <p:sp>
        <p:nvSpPr>
          <p:cNvPr id="38" name="Text 29"/>
          <p:cNvSpPr/>
          <p:nvPr/>
        </p:nvSpPr>
        <p:spPr>
          <a:xfrm>
            <a:off x="636879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讓官方帳號自己會發訊息，不用人工按送出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39" name="Shape 30"/>
          <p:cNvSpPr/>
          <p:nvPr/>
        </p:nvSpPr>
        <p:spPr>
          <a:xfrm>
            <a:off x="8974836" y="416052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4F7FD"/>
          </a:solidFill>
          <a:ln/>
        </p:spPr>
      </p:sp>
      <p:sp>
        <p:nvSpPr>
          <p:cNvPr id="40" name="Shape 31"/>
          <p:cNvSpPr/>
          <p:nvPr/>
        </p:nvSpPr>
        <p:spPr>
          <a:xfrm>
            <a:off x="9966960" y="441655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1" name="Image 7" descr="/home/claude/deck/icons/robo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04120" y="4553712"/>
            <a:ext cx="347472" cy="34747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11996" y="516636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+mn-ea"/>
                <a:cs typeface="Calibri" pitchFamily="34" charset="-120"/>
              </a:rPr>
              <a:t>Claude Models</a:t>
            </a:r>
            <a:endParaRPr lang="en-US" sz="1400" dirty="0">
              <a:latin typeface="+mn-ea"/>
            </a:endParaRPr>
          </a:p>
        </p:txBody>
      </p:sp>
      <p:sp>
        <p:nvSpPr>
          <p:cNvPr id="43" name="Text 33"/>
          <p:cNvSpPr/>
          <p:nvPr/>
        </p:nvSpPr>
        <p:spPr>
          <a:xfrm>
            <a:off x="9157716" y="5477256"/>
            <a:ext cx="2240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+mn-ea"/>
                <a:cs typeface="Calibri" pitchFamily="34" charset="-120"/>
              </a:rPr>
              <a:t>真正負責看資料、判斷、寫分析的 AI 分析師</a:t>
            </a:r>
            <a:endParaRPr lang="en-US" sz="1400" dirty="0">
              <a:solidFill>
                <a:schemeClr val="tx2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4" name="Text 3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  <a:latin typeface="+mn-ea"/>
                <a:cs typeface="Calibri" pitchFamily="34" charset="-120"/>
              </a:rPr>
              <a:t>05</a:t>
            </a:r>
            <a:endParaRPr lang="en-US" sz="100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cKinsey Colour">
      <a:dk1>
        <a:sysClr val="windowText" lastClr="000000"/>
      </a:dk1>
      <a:lt1>
        <a:sysClr val="window" lastClr="FFFFFF"/>
      </a:lt1>
      <a:dk2>
        <a:srgbClr val="1F3A5F"/>
      </a:dk2>
      <a:lt2>
        <a:srgbClr val="F2F2F2"/>
      </a:lt2>
      <a:accent1>
        <a:srgbClr val="1F3A5F"/>
      </a:accent1>
      <a:accent2>
        <a:srgbClr val="E31937"/>
      </a:accent2>
      <a:accent3>
        <a:srgbClr val="999999"/>
      </a:accent3>
      <a:accent4>
        <a:srgbClr val="FFC72C"/>
      </a:accent4>
      <a:accent5>
        <a:srgbClr val="0070C0"/>
      </a:accent5>
      <a:accent6>
        <a:srgbClr val="00B050"/>
      </a:accent6>
      <a:hlink>
        <a:srgbClr val="0563C1"/>
      </a:hlink>
      <a:folHlink>
        <a:srgbClr val="954F72"/>
      </a:folHlink>
    </a:clrScheme>
    <a:fontScheme name="Century-微軟正黑體">
      <a:majorFont>
        <a:latin typeface="Century"/>
        <a:ea typeface="微軟正黑體"/>
        <a:cs typeface=""/>
      </a:majorFont>
      <a:minorFont>
        <a:latin typeface="Century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368</Words>
  <Application>Microsoft Office PowerPoint</Application>
  <PresentationFormat>寬螢幕</PresentationFormat>
  <Paragraphs>99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1" baseType="lpstr">
      <vt:lpstr>微軟正黑體</vt:lpstr>
      <vt:lpstr>Arial</vt:lpstr>
      <vt:lpstr>Calibri</vt:lpstr>
      <vt:lpstr>Century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陳冠升</cp:lastModifiedBy>
  <cp:revision>23</cp:revision>
  <dcterms:created xsi:type="dcterms:W3CDTF">2026-08-14T01:01:31Z</dcterms:created>
  <dcterms:modified xsi:type="dcterms:W3CDTF">2026-08-14T01:50:42Z</dcterms:modified>
</cp:coreProperties>
</file>