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7" r:id="rId2"/>
    <p:sldId id="258" r:id="rId3"/>
    <p:sldId id="261" r:id="rId4"/>
    <p:sldId id="262" r:id="rId5"/>
    <p:sldId id="257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7A64CA8-A270-41E3-A6A1-3B13C8431067}">
          <p14:sldIdLst>
            <p14:sldId id="267"/>
            <p14:sldId id="258"/>
            <p14:sldId id="261"/>
          </p14:sldIdLst>
        </p14:section>
        <p14:section name="附註區(不會報)" id="{FEF47267-B025-4291-929F-B997B40D9E04}">
          <p14:sldIdLst>
            <p14:sldId id="262"/>
            <p14:sldId id="257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6" autoAdjust="0"/>
    <p:restoredTop sz="71429" autoAdjust="0"/>
  </p:normalViewPr>
  <p:slideViewPr>
    <p:cSldViewPr snapToGrid="0" snapToObjects="1">
      <p:cViewPr>
        <p:scale>
          <a:sx n="75" d="100"/>
          <a:sy n="75" d="100"/>
        </p:scale>
        <p:origin x="177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85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執行長、各位長官，午安。今天報告的主題是美日聯合干預後的日圓走勢。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今年的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30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日，美國與日本睽違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15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年、再度攜手進場干預日圓，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USD/JPY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兩天內從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163.8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一路殺到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157.20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，盤中甚至一度探到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155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今天我就來報告的我觀點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我會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先跟大家引述摩根大通的研究觀點，再帶入我自己的判斷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en-US" altLang="zh-TW" sz="1800" dirty="0"/>
          </a:p>
          <a:p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2669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首先是摩根大通的報告。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摩根大通分析師想要特別強調，美國這次是願意配合加入干預的。因為在過去，市場通常認為，除非美國遇到金融危機，否則美國會傾向不參與這種聯合干預。所以如果這件事情發生，代表，某程度上這件事已經牽涉到美國的利益了，美國才有足夠動機。</a:t>
            </a:r>
          </a:p>
          <a:p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這次美國透過賣歐圓買日幣，而不是賣美金買日圓，那就代表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美國並非要主要打壓美元整體強勢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285750" indent="-285750">
              <a:buFontTx/>
              <a:buChar char="-"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美國是在技術性的支援日本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285750" indent="-285750">
              <a:buFontTx/>
              <a:buChar char="-"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所以，美國已經向市場表示，特定情況下會防守日圓。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285750" indent="-285750">
              <a:buFontTx/>
              <a:buChar char="-"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摩根分析師認為這次有幾個動機，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首先最主要的就是，防止日債溢出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(JGB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 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Yield Spillover)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，我們來看右邊這張圖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:</a:t>
            </a:r>
          </a:p>
          <a:p>
            <a:pPr marL="0" indent="0">
              <a:buFontTx/>
              <a:buNone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淺藍色是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30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年期的日本公債。今年一月時候，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30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年期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JGB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就飆升，美國擔心這個波動溢出到美債，所以同意配合日本做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Rate Check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，事後該日債收益率回落。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這代表甚麼呢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?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 現在的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JGB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長端比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1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月時候還要高，同樣動機，更強的理由，這就是美國為何會打破 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15 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年慣例、加入 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7/30–31 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聯合干預、甚至談擴大彈藥支持日本的底層原因。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因為日債如果崩了，日本很可能會去變賣美債湊錢，這會嚴重影響到美債市場。美國對於這點是非常牴觸的。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其他動機還有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換取</a:t>
            </a:r>
            <a:r>
              <a:rPr lang="zh-TW" altLang="en-US" sz="18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日本在美日貿易協議承諾之</a:t>
            </a:r>
            <a:r>
              <a:rPr lang="en-US" altLang="zh-TW" sz="18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5,500</a:t>
            </a:r>
            <a:r>
              <a:rPr lang="zh-TW" altLang="en-US" sz="18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億美元對美投資</a:t>
            </a:r>
            <a:endParaRPr lang="en-US" altLang="zh-TW" sz="18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維持美元指數中性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避免美國對亞課徵之關稅失效。因為如果亞幣集體貶值，關稅效果將被抵銷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接下來是摩根大通對於美國干預火力以及日幣後續的看法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首先，摩根大通提到美國現有火力包含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ESF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，美國財政部的匯率穩定基金，包含大約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130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億歐元與</a:t>
            </a:r>
            <a:r>
              <a:rPr lang="en-US" altLang="zh-TW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255</a:t>
            </a:r>
            <a:r>
              <a:rPr lang="zh-TW" altLang="en-US" sz="1800" kern="0" dirty="0"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億美金</a:t>
            </a: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SDR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，也就是美國存在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IMF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的特別提款權，大約有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1720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億美金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但是摩根認為這些彈藥火力僅能夠在短期起到嚇阻投機分子的作用，防止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超過財務省紅線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160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與聯合干預紅線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164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中期以後，這個火力不足以維持 持續的大規模干預。因為美日利差仍存在套息交易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(Carry)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空間， 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仍然會走上去突破紅線區。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它的意義在於，短線上來看，干預是有效的；但是中期以後仍舊不看好日幣明顯升值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接下來我們繼續看右邊這種圖，他把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1998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年與本年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2026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年的日本走勢圖放在一起比較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淺色線是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1998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年的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，四月的時候，日本曾經單面干預，但是效果不大，而後美國在六月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17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日加入美日聯合干預，但是日本升值的效果是短暫的。而後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在八月又回來了當時的高位。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後面的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的暴跌和這次干預的相關性不大，主要是俄羅斯公債違約引發的一系列去槓桿化平倉。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再來我們看一下深色的線，今年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4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月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30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日到五月初，日本疑似有介入干預，但是效果並沒有維持很久，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甚至又創了四十年新高位。然後我們看到這次七月底的聯合干預，日幣確實有急升，而且因為美國的介入，幅度更大。但是中期以後，摩根分析師認為日幣走勢仍舊會回歸結構性問題，所以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仍然會走高。只是這短期內，因為有美國財政部的火力背書加上日本的干預，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比較不會突破</a:t>
            </a:r>
            <a:r>
              <a:rPr lang="en-US" altLang="zh-TW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160</a:t>
            </a:r>
            <a:r>
              <a:rPr lang="zh-TW" altLang="en-US" sz="1800" kern="0" dirty="0">
                <a:effectLst/>
                <a:latin typeface="Microsoft JhengHei" pitchFamily="34" charset="0"/>
                <a:ea typeface="Microsoft JhengHei" pitchFamily="34" charset="-122"/>
                <a:cs typeface="新細明體" panose="02020500000000000000" pitchFamily="18" charset="-120"/>
              </a:rPr>
              <a:t>以上的地雷區。</a:t>
            </a: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b="1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800" kern="10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Times New Roman" panose="02020603050405020304" pitchFamily="18" charset="0"/>
              </a:rPr>
              <a:t>綜上所述，短線上，這次干預的嚇阻效力是有效果的；但是中期以後，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Times New Roman" panose="02020603050405020304" pitchFamily="18" charset="0"/>
              </a:rPr>
              <a:t>USDJPY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Times New Roman" panose="02020603050405020304" pitchFamily="18" charset="0"/>
              </a:rPr>
              <a:t>仍然會走上。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altLang="zh-TW" sz="1800" kern="0" dirty="0">
              <a:effectLst/>
              <a:latin typeface="Microsoft JhengHei" pitchFamily="34" charset="0"/>
              <a:ea typeface="Microsoft JhengHei" pitchFamily="34" charset="-122"/>
              <a:cs typeface="新細明體" panose="02020500000000000000" pitchFamily="18" charset="-120"/>
            </a:endParaRPr>
          </a:p>
          <a:p>
            <a:pPr marL="285750" indent="-285750">
              <a:buFontTx/>
              <a:buChar char="-"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indent="0">
              <a:buFontTx/>
              <a:buNone/>
            </a:pPr>
            <a:endParaRPr lang="en-US" altLang="zh-TW" sz="1800" kern="0" dirty="0">
              <a:effectLst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接下來是我自己的觀點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首先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我認為，日本央行現在被「財政主導」綁死，升息這條路走得很艱難。市場現在定價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10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月升息機率大概七成，但因為日本政府債務超過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GDP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260%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，央行只能「微步式」緩慢升息，不敢大動作。更麻煩的是，日本政府現在還在推消費稅下調，財政赤字反而在擴大。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這就形成兩難：升息，債務壓力吃不消；降息，輸入性通膨馬上反撲、匯率直接崩潰。這也是為什麼匯率干預變成日本官方目前唯一能打的止痛藥，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不過這也是日本政府最優的解法了。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再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看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USDJPY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頂部的部分，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如摩根分析師所述，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160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是財務省心理紅線；一旦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突破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160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，就會面臨聯合干預的實質打擊，上限大概在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164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。而且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美國財長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貝森特已經談到要擴大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FIMA 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原有的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600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億美元限額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，讓日本可以用質押方式、在盡量不影響美債殖利率的前提下，換取更多干預彈藥跟美國的支持意願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——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等於把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160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164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這段防線做得更扎實。而且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FIMA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機制也讓美國更有意願擴大干預，因為這對美債市場的衝擊相對是小的。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這些短期可以嚇阻投機客，是構成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USDJPY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上頂的阻力。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接下來，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底部支撐。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首先，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日本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的貿易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經常帳戶結構本來就對弱日圓有利，出口商是站在這一邊的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再來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官方也不樂見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155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下方的空頭停損單引發軋空，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今年五月初與七月底的干預都是到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155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見好就收，日本官方應該是也是怕後續的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Short Squeeze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效應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造成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的匯率快速巨變。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綜合這三個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點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，我的判斷是：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USD/JPY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未來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短期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會在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155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160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之間區間震盪。</a:t>
            </a:r>
            <a:r>
              <a:rPr lang="zh-TW" altLang="en-US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以上報告。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報告執行長，如果要我來操作的話，短期在尚未跌破</a:t>
            </a:r>
            <a:r>
              <a:rPr lang="en-US" altLang="zh-TW" dirty="0"/>
              <a:t>155</a:t>
            </a:r>
            <a:r>
              <a:rPr lang="zh-TW" altLang="en-US" dirty="0"/>
              <a:t>前我會逢低建倉去</a:t>
            </a:r>
            <a:r>
              <a:rPr lang="en-US" altLang="zh-TW" dirty="0"/>
              <a:t>Long USDJPY</a:t>
            </a:r>
            <a:r>
              <a:rPr lang="zh-TW" altLang="en-US" dirty="0"/>
              <a:t>，然後如果日幣上破</a:t>
            </a:r>
            <a:r>
              <a:rPr lang="en-US" altLang="zh-TW" dirty="0"/>
              <a:t>160</a:t>
            </a:r>
            <a:r>
              <a:rPr lang="zh-TW" altLang="en-US" dirty="0"/>
              <a:t>的話，我會開始分批平倉獲利，避免干預風險。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停損單我會設置在</a:t>
            </a:r>
            <a:r>
              <a:rPr lang="en-US" altLang="zh-TW" dirty="0"/>
              <a:t>155</a:t>
            </a:r>
            <a:r>
              <a:rPr lang="zh-TW" altLang="en-US" dirty="0"/>
              <a:t>下方的位置。具體的操作策略，我的部長王忠豪下午會與您詳細報告。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12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73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4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 descr="Tokyo Tower City Lights Wallpaper | Best cities for photography, Tokyo ...">
            <a:extLst>
              <a:ext uri="{FF2B5EF4-FFF2-40B4-BE49-F238E27FC236}">
                <a16:creationId xmlns:a16="http://schemas.microsoft.com/office/drawing/2014/main" id="{CC0B9886-DF50-4B23-B8AB-BCC9C567A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3"/>
          <p:cNvSpPr/>
          <p:nvPr/>
        </p:nvSpPr>
        <p:spPr>
          <a:xfrm>
            <a:off x="-3048" y="0"/>
            <a:ext cx="12188952" cy="6858000"/>
          </a:xfrm>
          <a:prstGeom prst="rect">
            <a:avLst/>
          </a:prstGeom>
          <a:solidFill>
            <a:srgbClr val="0A1023">
              <a:alpha val="7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DD73C02-61A1-5641-ADA3-668E14AA9540}"/>
              </a:ext>
            </a:extLst>
          </p:cNvPr>
          <p:cNvSpPr/>
          <p:nvPr/>
        </p:nvSpPr>
        <p:spPr>
          <a:xfrm>
            <a:off x="0" y="2253006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</a:rPr>
              <a:t>美日干預 </a:t>
            </a:r>
            <a:r>
              <a:rPr lang="en-US" altLang="zh-TW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</a:rPr>
              <a:t>–</a:t>
            </a:r>
            <a:r>
              <a:rPr lang="zh-TW" alt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</a:rPr>
              <a:t> 震盪起伏的日幣</a:t>
            </a:r>
            <a:endParaRPr lang="en-US" altLang="zh-TW" sz="3600" b="1" dirty="0">
              <a:solidFill>
                <a:srgbClr val="FFFFFF"/>
              </a:solidFill>
              <a:latin typeface="微軟正黑體" pitchFamily="34" charset="0"/>
              <a:ea typeface="微軟正黑體" pitchFamily="34" charset="-122"/>
            </a:endParaRPr>
          </a:p>
        </p:txBody>
      </p:sp>
      <p:pic>
        <p:nvPicPr>
          <p:cNvPr id="1028" name="Picture 4" descr="Richart - 登入">
            <a:extLst>
              <a:ext uri="{FF2B5EF4-FFF2-40B4-BE49-F238E27FC236}">
                <a16:creationId xmlns:a16="http://schemas.microsoft.com/office/drawing/2014/main" id="{4E10AF60-B4E1-494C-8741-CEB069074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106" y="5264209"/>
            <a:ext cx="1758846" cy="15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11F2D1FE-AA22-4209-ACF0-89323E973D39}"/>
              </a:ext>
            </a:extLst>
          </p:cNvPr>
          <p:cNvSpPr/>
          <p:nvPr/>
        </p:nvSpPr>
        <p:spPr>
          <a:xfrm>
            <a:off x="8017488" y="6127266"/>
            <a:ext cx="2658167" cy="23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台新國際商業銀行 金融市場事業總處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2939B53-8B9D-4BFF-9CEA-833D9775776A}"/>
              </a:ext>
            </a:extLst>
          </p:cNvPr>
          <p:cNvSpPr/>
          <p:nvPr/>
        </p:nvSpPr>
        <p:spPr>
          <a:xfrm>
            <a:off x="8251267" y="6366682"/>
            <a:ext cx="2003686" cy="401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TW" sz="11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</a:rPr>
              <a:t>Taishin</a:t>
            </a:r>
            <a:r>
              <a:rPr lang="en-US" altLang="zh-TW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</a:rPr>
              <a:t> International Bank </a:t>
            </a:r>
          </a:p>
          <a:p>
            <a:pPr marL="0" indent="0">
              <a:buNone/>
            </a:pPr>
            <a:r>
              <a:rPr lang="en-US" altLang="zh-TW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</a:rPr>
              <a:t>Financial Market Division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2DD3DCB7-5690-489C-ACB5-E426B0C5EBAC}"/>
              </a:ext>
            </a:extLst>
          </p:cNvPr>
          <p:cNvSpPr/>
          <p:nvPr/>
        </p:nvSpPr>
        <p:spPr>
          <a:xfrm>
            <a:off x="174174" y="5843802"/>
            <a:ext cx="7843314" cy="9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TW" altLang="en-US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引用文獻</a:t>
            </a:r>
            <a:endParaRPr lang="en-US" altLang="zh-TW" sz="1200" b="1" dirty="0">
              <a:solidFill>
                <a:schemeClr val="bg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摩根大通銀行</a:t>
            </a:r>
            <a:r>
              <a:rPr lang="en-US" altLang="zh-TW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</a:t>
            </a:r>
            <a:r>
              <a:rPr lang="zh-TW" altLang="en-US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2026/08/03,</a:t>
            </a:r>
            <a:r>
              <a:rPr lang="zh-TW" altLang="en-US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Unexpectedly Strong US-Japan Cooperation against Weak JPY </a:t>
            </a:r>
          </a:p>
        </p:txBody>
      </p:sp>
    </p:spTree>
    <p:extLst>
      <p:ext uri="{BB962C8B-B14F-4D97-AF65-F5344CB8AC3E}">
        <p14:creationId xmlns:p14="http://schemas.microsoft.com/office/powerpoint/2010/main" val="359862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 ｜ </a:t>
            </a:r>
            <a:r>
              <a:rPr lang="en-US" sz="1100" b="1" kern="0" spc="200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美方動機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8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</a:t>
            </a: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為了防止日債溢出，準備充足彈藥加入干預，短期內投機客不太敢越過</a:t>
            </a:r>
            <a:r>
              <a:rPr lang="en-US" altLang="zh-TW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</a:t>
            </a: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上方區；但是中期以後</a:t>
            </a:r>
            <a:r>
              <a:rPr lang="en-US" altLang="zh-TW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USDJPY</a:t>
            </a: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仍舊會回歸結構原因，緩步走高。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7296" y="1152367"/>
            <a:ext cx="5574791" cy="523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首次先例：</a:t>
            </a:r>
            <a:r>
              <a:rPr lang="en-US" sz="16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美國賣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EUR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買 </a:t>
            </a:r>
            <a:r>
              <a:rPr 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JPY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6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意在挺日圓而非打壓美元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r>
              <a:rPr lang="en-US" sz="16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動機：</a:t>
            </a:r>
            <a:r>
              <a:rPr lang="en-US" sz="1600" b="1" dirty="0" err="1">
                <a:solidFill>
                  <a:srgbClr val="C00000"/>
                </a:solidFill>
                <a:ea typeface="Microsoft JhengHei" pitchFamily="34" charset="-122"/>
                <a:cs typeface="Microsoft JhengHei" pitchFamily="34" charset="-120"/>
              </a:rPr>
              <a:t>防</a:t>
            </a:r>
            <a:r>
              <a:rPr lang="zh-TW" altLang="en-US" sz="1600" b="1" dirty="0">
                <a:solidFill>
                  <a:srgbClr val="C00000"/>
                </a:solidFill>
                <a:ea typeface="Microsoft JhengHei" pitchFamily="34" charset="-122"/>
                <a:cs typeface="Microsoft JhengHei" pitchFamily="34" charset="-120"/>
              </a:rPr>
              <a:t>日</a:t>
            </a:r>
            <a:r>
              <a:rPr lang="en-US" sz="1600" b="1" dirty="0" err="1">
                <a:solidFill>
                  <a:srgbClr val="C00000"/>
                </a:solidFill>
                <a:ea typeface="Microsoft JhengHei" pitchFamily="34" charset="-122"/>
                <a:cs typeface="Microsoft JhengHei" pitchFamily="34" charset="-120"/>
              </a:rPr>
              <a:t>債溢出</a:t>
            </a:r>
            <a:r>
              <a:rPr lang="en-US" altLang="zh-TW" sz="1600" b="1" dirty="0">
                <a:solidFill>
                  <a:srgbClr val="C00000"/>
                </a:solidFill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600" b="1" i="0" dirty="0">
                <a:solidFill>
                  <a:srgbClr val="C00000"/>
                </a:solidFill>
                <a:effectLst/>
                <a:ea typeface="Microsoft YaHei" panose="020B0503020204020204" pitchFamily="34" charset="-122"/>
              </a:rPr>
              <a:t>JGB Yield Spillover</a:t>
            </a:r>
            <a:r>
              <a:rPr lang="zh-TW" altLang="en-US" sz="1600" i="0" dirty="0">
                <a:effectLst/>
                <a:ea typeface="Microsoft YaHei" panose="020B0503020204020204" pitchFamily="34" charset="-122"/>
              </a:rPr>
              <a:t>，如右圖</a:t>
            </a:r>
            <a:r>
              <a:rPr lang="en-US" altLang="zh-TW" sz="1600" i="0" dirty="0">
                <a:effectLst/>
                <a:ea typeface="Microsoft YaHei" panose="020B0503020204020204" pitchFamily="34" charset="-122"/>
              </a:rPr>
              <a:t>) 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</a:t>
            </a:r>
            <a:r>
              <a:rPr lang="en-US" altLang="zh-TW" sz="16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altLang="zh-TW" sz="1600" i="0" dirty="0">
              <a:effectLst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換取日本投資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2025/7/22 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美日貿易協議：日本承諾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5,500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億美元對美投資，換取關稅從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25%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降至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15%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維持美元指數中性</a:t>
            </a:r>
            <a:endParaRPr lang="en-US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避免關稅失效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如果亞幣集體貶值，關稅效果將被抵銷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彈藥庫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摩根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僅短期有效，中期後彈藥量有限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600" b="1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ESF(EUR~130億+USD~255億) + SDR(1720億)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摩根分析師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短期可以嚇阻投機客，防止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USDJPY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財務省紅線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en-US" sz="16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聯合干預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紅線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164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；但是中期以後，因為美日利差仍存在套息交易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(Carry)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空間，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USDJPY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仍然會中期後上去。</a:t>
            </a:r>
            <a:endParaRPr lang="en-US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 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短線上被擋住，但中期仍不看好日幣明顯升值</a:t>
            </a:r>
            <a:endParaRPr lang="en-US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內部資料｜嚴禁外流</a:t>
            </a:r>
            <a:endParaRPr lang="en-US" sz="900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D9369CD-09AE-4120-8669-765474329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973" y="4330984"/>
            <a:ext cx="4934141" cy="2378789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65CC6853-0BF2-4D0D-9C0B-AE26A9316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139" y="968802"/>
            <a:ext cx="4914221" cy="2263266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A6BF7A48-F853-4C5E-B296-CE5C7A1A2FFF}"/>
              </a:ext>
            </a:extLst>
          </p:cNvPr>
          <p:cNvSpPr txBox="1"/>
          <p:nvPr/>
        </p:nvSpPr>
        <p:spPr>
          <a:xfrm>
            <a:off x="6599973" y="3315321"/>
            <a:ext cx="5574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altLang="zh-TW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月的先例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：當時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JGB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長端飆升 → 美國擔心波動溢出到美債 → 所以</a:t>
            </a:r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同意配合 </a:t>
            </a:r>
            <a:r>
              <a:rPr lang="en-US" altLang="zh-TW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rate check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→ 事後證明有效（收益率回落）。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 rtl="0"/>
            <a:endParaRPr lang="zh-TW" altLang="en-US" sz="1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 rtl="0"/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現在的映射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JGB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長端現在比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月還高 → </a:t>
            </a:r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同一個動機、更強的理由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→ 這就是美國願意打破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15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年慣例、加入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7/30–31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聯合干預、甚至擴大火力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的底層原因</a:t>
            </a:r>
            <a:r>
              <a:rPr lang="zh-TW" altLang="en-US" sz="1200" b="0" i="0" dirty="0">
                <a:solidFill>
                  <a:srgbClr val="00206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我的觀點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55118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日本央行受制於「財政主導」，微步加息難改深度負利率，匯率干預仍是終極防線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109960" y="310896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109960" y="310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焦點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7680" y="1007891"/>
            <a:ext cx="5532120" cy="556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zh-TW" alt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利率</a:t>
            </a:r>
            <a:r>
              <a:rPr lang="en-US" sz="1600" b="1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</a:t>
            </a:r>
            <a:r>
              <a:rPr lang="zh-TW" alt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舉步維艱</a:t>
            </a:r>
            <a:r>
              <a:rPr 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市場定價 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月加息 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70%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，但受限於 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&gt;260% GDP 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的債務壓力，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BOJ 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只能進行「微步加息」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；降息=匯率崩潰(</a:t>
            </a:r>
            <a:r>
              <a:rPr lang="en-US" sz="16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輸入性通膨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)。</a:t>
            </a: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擴張性財政政策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消費稅下調，財政赤字增加</a:t>
            </a:r>
            <a:endParaRPr lang="en-US" altLang="zh-TW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利率工具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陷入兩難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6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匯率干預成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最優</a:t>
            </a:r>
            <a:r>
              <a:rPr lang="en-US" sz="16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止痛藥</a:t>
            </a:r>
            <a:endParaRPr lang="en-US" sz="1600" b="1" dirty="0"/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頂部160警戒：</a:t>
            </a: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摩根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160為財務省心理紅線；逼近160面臨聯合干預實質打擊(極限164)</a:t>
            </a: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</a:rPr>
              <a:t>Bessant</a:t>
            </a: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</a:rPr>
              <a:t>上調</a:t>
            </a:r>
            <a:r>
              <a:rPr lang="en-US" altLang="zh-TW" sz="1600" b="1" dirty="0">
                <a:latin typeface="Microsoft JhengHei" pitchFamily="34" charset="0"/>
                <a:ea typeface="Microsoft JhengHei" pitchFamily="34" charset="-122"/>
              </a:rPr>
              <a:t>FIMA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</a:rPr>
              <a:t>: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</a:rPr>
              <a:t> 日本可以在盡可能不影響美債殖利率情況下，透過質押，得到更多干預的彈藥以及美國支持意願</a:t>
            </a:r>
            <a:endParaRPr lang="en-US" sz="1600" dirty="0"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altLang="zh-TW" sz="1600" b="1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底部隱形支撐</a:t>
            </a:r>
            <a:r>
              <a:rPr lang="en-US" altLang="zh-TW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為何今年五月與七月干預都止步</a:t>
            </a:r>
            <a:r>
              <a:rPr lang="en-US" altLang="zh-TW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155)：</a:t>
            </a: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出口經濟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日本貿易經常帳戶結構都站在弱日圓這邊</a:t>
            </a:r>
            <a:endParaRPr lang="en-US" altLang="zh-TW" sz="1600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</a:t>
            </a:r>
            <a:r>
              <a:rPr lang="zh-TW" altLang="en-US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下方空頭止損單造成</a:t>
            </a:r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 Squeeze</a:t>
            </a:r>
            <a:endParaRPr lang="en-US" altLang="zh-TW" sz="1600" b="1" dirty="0"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4D57BB8-D131-43B3-BE67-9012BA5BA081}"/>
              </a:ext>
            </a:extLst>
          </p:cNvPr>
          <p:cNvSpPr txBox="1"/>
          <p:nvPr/>
        </p:nvSpPr>
        <p:spPr>
          <a:xfrm>
            <a:off x="7064552" y="5260105"/>
            <a:ext cx="4685488" cy="411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altLang="zh-TW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核心判斷：</a:t>
            </a:r>
            <a:r>
              <a:rPr lang="en-US" altLang="zh-TW" sz="18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155–160 </a:t>
            </a:r>
            <a:r>
              <a:rPr lang="en-US" altLang="zh-TW" sz="1800" b="1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區間震盪</a:t>
            </a:r>
            <a:endParaRPr lang="en-US" altLang="zh-TW" sz="1800" dirty="0">
              <a:solidFill>
                <a:srgbClr val="C00000"/>
              </a:solidFill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CE090734-636B-4A4C-B9AE-393A677D7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72" y="1266698"/>
            <a:ext cx="5217813" cy="3704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APPENDIX ｜ 交易執行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8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交易執行</a:t>
            </a:r>
            <a:r>
              <a:rPr 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短期在未跌破</a:t>
            </a:r>
            <a:r>
              <a:rPr lang="en-US" altLang="zh-TW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</a:t>
            </a: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前逢低建倉</a:t>
            </a:r>
            <a:r>
              <a:rPr lang="en-US" altLang="zh-TW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Long USDJPY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82271" y="1682894"/>
            <a:ext cx="1371600" cy="3931920"/>
          </a:xfrm>
          <a:prstGeom prst="roundRect">
            <a:avLst>
              <a:gd name="adj" fmla="val 13333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82271" y="4356600"/>
            <a:ext cx="1371600" cy="1258214"/>
          </a:xfrm>
          <a:prstGeom prst="roundRect">
            <a:avLst>
              <a:gd name="adj" fmla="val 14535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82271" y="2783832"/>
            <a:ext cx="1371600" cy="1572768"/>
          </a:xfrm>
          <a:prstGeom prst="roundRect">
            <a:avLst>
              <a:gd name="adj" fmla="val 5333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82271" y="1682894"/>
            <a:ext cx="1371600" cy="1100938"/>
          </a:xfrm>
          <a:prstGeom prst="roundRect">
            <a:avLst>
              <a:gd name="adj" fmla="val 16611"/>
            </a:avLst>
          </a:prstGeom>
          <a:solidFill>
            <a:srgbClr val="051C2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82271" y="21263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160+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82271" y="3433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155–160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2271" y="484854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</a:t>
            </a:r>
            <a:r>
              <a:rPr lang="zh-TW" alt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9631" y="1728614"/>
            <a:ext cx="3840480" cy="1100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 </a:t>
            </a:r>
            <a:r>
              <a:rPr lang="en-US" sz="1400" b="1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</a:t>
            </a:r>
            <a:r>
              <a:rPr lang="en-US" sz="14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4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分批止盈</a:t>
            </a:r>
            <a:r>
              <a:rPr lang="en-US" altLang="zh-TW" sz="14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(Profit Taking)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9631" y="2783832"/>
            <a:ext cx="3840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155–160：</a:t>
            </a:r>
            <a:r>
              <a:rPr lang="en-US" sz="13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持有與觀察區</a:t>
            </a:r>
            <a:r>
              <a:rPr lang="en-US" altLang="zh-TW" sz="13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3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逢低建倉</a:t>
            </a:r>
            <a:r>
              <a:rPr lang="en-US" altLang="zh-TW" sz="13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Long USDJPY)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9631" y="4356600"/>
            <a:ext cx="3840480" cy="1258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2271" y="139028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USD/JPY 操作矩陣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內部資料｜嚴禁外流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28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7</a:t>
            </a:r>
            <a:endParaRPr lang="en-US" sz="9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40C28A3-3A7E-440B-BA6B-27A1D592D900}"/>
              </a:ext>
            </a:extLst>
          </p:cNvPr>
          <p:cNvSpPr/>
          <p:nvPr/>
        </p:nvSpPr>
        <p:spPr>
          <a:xfrm>
            <a:off x="2019631" y="4102396"/>
            <a:ext cx="3840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TW" sz="1400" b="1" dirty="0"/>
              <a:t>155</a:t>
            </a:r>
            <a:r>
              <a:rPr lang="zh-TW" altLang="en-US" sz="1400" b="1" dirty="0"/>
              <a:t>以下</a:t>
            </a:r>
            <a:r>
              <a:rPr lang="en-US" altLang="zh-TW" sz="1400" dirty="0"/>
              <a:t>: </a:t>
            </a:r>
            <a:r>
              <a:rPr lang="zh-TW" altLang="en-US" sz="1400" dirty="0"/>
              <a:t>停損單設在</a:t>
            </a:r>
            <a:r>
              <a:rPr lang="en-US" altLang="zh-TW" sz="1400" dirty="0"/>
              <a:t>155</a:t>
            </a:r>
            <a:r>
              <a:rPr lang="zh-TW" altLang="en-US" sz="1400" dirty="0"/>
              <a:t>下方</a:t>
            </a:r>
            <a:r>
              <a:rPr lang="en-US" altLang="zh-TW" sz="1400" dirty="0"/>
              <a:t>1</a:t>
            </a:r>
            <a:endParaRPr lang="en-US" sz="14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4C3A2B2-991F-4855-A421-BF992F7BD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111" y="1110683"/>
            <a:ext cx="6108825" cy="4767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BMO ｜ MBS 與日圓干預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zh-TW" alt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聯合干預收斂短端避險成本</a:t>
            </a:r>
            <a:r>
              <a:rPr 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8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打通日本資金回流美債的「水管</a:t>
            </a:r>
            <a:r>
              <a:rPr 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2217" y="1399032"/>
            <a:ext cx="3884023" cy="3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干預後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，日本機構投資美債的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USD/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JPY鎖匯成本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3M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天期的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Swap Point</a:t>
            </a:r>
            <a:r>
              <a:rPr lang="en-US" altLang="zh-TW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r>
              <a:rPr lang="en-US" sz="1600" b="1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單週下降逾</a:t>
            </a:r>
            <a:r>
              <a:rPr 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10bp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鎖匯後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Ginnie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MBS </a:t>
            </a:r>
            <a:r>
              <a:rPr lang="en-US" sz="16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收益率已與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10 </a:t>
            </a:r>
            <a:r>
              <a:rPr lang="en-US" sz="16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年期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JGB </a:t>
            </a:r>
            <a:r>
              <a:rPr lang="en-US" sz="16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持平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預期日本壽險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養老金資金回流美債與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MBS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效果：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為美債</a:t>
            </a:r>
            <a:r>
              <a:rPr lang="en-US" sz="1600" b="1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長端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利率提供買盤，間接穩住USDJPY底部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39512"/>
            <a:ext cx="2450592" cy="1051560"/>
          </a:xfrm>
          <a:prstGeom prst="roundRect">
            <a:avLst>
              <a:gd name="adj" fmla="val 6957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8640" y="5239512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干預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9232" y="5239512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5239512"/>
            <a:ext cx="2450592" cy="1051560"/>
          </a:xfrm>
          <a:prstGeom prst="roundRect">
            <a:avLst>
              <a:gd name="adj" fmla="val 6957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200400" y="5239512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遠期貼水縮小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50992" y="5239512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852160" y="5239512"/>
            <a:ext cx="2450592" cy="1051560"/>
          </a:xfrm>
          <a:prstGeom prst="roundRect">
            <a:avLst>
              <a:gd name="adj" fmla="val 6957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852160" y="5239512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鎖匯成本下降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5239512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503920" y="5239512"/>
            <a:ext cx="2450592" cy="1051560"/>
          </a:xfrm>
          <a:prstGeom prst="roundRect">
            <a:avLst>
              <a:gd name="adj" fmla="val 6957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503920" y="5239512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日資回流美債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946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資金傳導機制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內部資料｜嚴禁外流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28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7</a:t>
            </a:r>
            <a:endParaRPr lang="en-US" sz="900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D3E15E8-37CB-4FD8-84DF-2BE2D354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29" y="1463040"/>
            <a:ext cx="3884023" cy="2816385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322CEEFC-6504-4B9C-B732-0573ACB3F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334" y="1429043"/>
            <a:ext cx="3612447" cy="2741305"/>
          </a:xfrm>
          <a:prstGeom prst="rect">
            <a:avLst/>
          </a:prstGeom>
        </p:spPr>
      </p:pic>
      <p:sp>
        <p:nvSpPr>
          <p:cNvPr id="25" name="Text 2">
            <a:extLst>
              <a:ext uri="{FF2B5EF4-FFF2-40B4-BE49-F238E27FC236}">
                <a16:creationId xmlns:a16="http://schemas.microsoft.com/office/drawing/2014/main" id="{1388A9D2-D34C-4868-A3D4-6B925F02D73C}"/>
              </a:ext>
            </a:extLst>
          </p:cNvPr>
          <p:cNvSpPr/>
          <p:nvPr/>
        </p:nvSpPr>
        <p:spPr>
          <a:xfrm>
            <a:off x="4318145" y="4447404"/>
            <a:ext cx="3884023" cy="49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日本央行入場干預後，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天期的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Swap Points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大幅下降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B3B61E7B-92D6-4893-97CB-683D44CCA3B2}"/>
              </a:ext>
            </a:extLst>
          </p:cNvPr>
          <p:cNvSpPr/>
          <p:nvPr/>
        </p:nvSpPr>
        <p:spPr>
          <a:xfrm>
            <a:off x="8503920" y="4367970"/>
            <a:ext cx="3612447" cy="49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扣除避險成本後之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Ginnie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Mae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MBS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收益率與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年期日本公債打平。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211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MUFG ｜ 亞洲外匯外溢效應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美國撐日圓外溢亞洲：KRW／THB／SGD 匯率聯動風險最高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日圓是亞洲貨幣定錨：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美日聯合干預的外溢效應牽動整個亞洲外匯複合體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高敏感貨幣：</a:t>
            </a:r>
            <a:r>
              <a:rPr lang="en-US" sz="16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KRW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居首（近兩年Beta與相關性同步走高），其次 </a:t>
            </a:r>
            <a:r>
              <a:rPr lang="en-US" sz="16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THB、SGD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，PHP 敏感度較低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FIMA 機制：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Bessent 談及擴大 FIMA 便利，讓外國央行取得短期美元流動性——反映對日本被迫拋售美債的中期憂慮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機制緩衝：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 MOF 手握約 </a:t>
            </a:r>
            <a:r>
              <a:rPr 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1600億美元</a:t>
            </a:r>
            <a:r>
              <a:rPr lang="en-US" sz="16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短期存款，近期無需被迫拋售美債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出口動能：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Asia PMI 顯示出口動能穩健，日圓走強下出口成長預期漸進放緩而非急墜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325880"/>
            <a:ext cx="5285232" cy="457200"/>
          </a:xfrm>
          <a:prstGeom prst="roundRect">
            <a:avLst>
              <a:gd name="adj" fmla="val 12000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355080" y="132588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日圓走勢變化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984248"/>
            <a:ext cx="5285232" cy="457200"/>
          </a:xfrm>
          <a:prstGeom prst="roundRect">
            <a:avLst>
              <a:gd name="adj" fmla="val 12000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355080" y="198424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亞洲外匯複合體聯動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2441448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642616"/>
            <a:ext cx="5285232" cy="457200"/>
          </a:xfrm>
          <a:prstGeom prst="roundRect">
            <a:avLst>
              <a:gd name="adj" fmla="val 12000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264261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KRW／THB／SGD 首當其衝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099816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3300984"/>
            <a:ext cx="5285232" cy="457200"/>
          </a:xfrm>
          <a:prstGeom prst="roundRect">
            <a:avLst>
              <a:gd name="adj" fmla="val 12000"/>
            </a:avLst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55080" y="330098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FIMA 機制緩衝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959352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Asia FX Conditional Beta（2025–迄今，示意重繪）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63289" y="4416552"/>
            <a:ext cx="508955" cy="777240"/>
          </a:xfrm>
          <a:prstGeom prst="roundRect">
            <a:avLst>
              <a:gd name="adj" fmla="val 3593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4197096"/>
            <a:ext cx="9253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5321808"/>
            <a:ext cx="9253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KRW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53254" y="4904586"/>
            <a:ext cx="508955" cy="289206"/>
          </a:xfrm>
          <a:prstGeom prst="roundRect">
            <a:avLst>
              <a:gd name="adj" fmla="val 6324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445045" y="4685130"/>
            <a:ext cx="9253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0.16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45045" y="5321808"/>
            <a:ext cx="9253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43218" y="4940737"/>
            <a:ext cx="508955" cy="253055"/>
          </a:xfrm>
          <a:prstGeom prst="roundRect">
            <a:avLst>
              <a:gd name="adj" fmla="val 7227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535010" y="4721281"/>
            <a:ext cx="9253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0.14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35010" y="5321808"/>
            <a:ext cx="9253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33183" y="5152644"/>
            <a:ext cx="508955" cy="41148"/>
          </a:xfrm>
          <a:prstGeom prst="roundRect">
            <a:avLst>
              <a:gd name="adj" fmla="val 44444"/>
            </a:avLst>
          </a:prstGeom>
          <a:solidFill>
            <a:srgbClr val="2667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624974" y="4933188"/>
            <a:ext cx="9253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0.02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24974" y="5321808"/>
            <a:ext cx="9253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923148" y="5152644"/>
            <a:ext cx="508955" cy="41148"/>
          </a:xfrm>
          <a:prstGeom prst="roundRect">
            <a:avLst>
              <a:gd name="adj" fmla="val 44444"/>
            </a:avLst>
          </a:prstGeom>
          <a:solidFill>
            <a:srgbClr val="8690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10714939" y="4933188"/>
            <a:ext cx="9253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-0.01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14939" y="5321808"/>
            <a:ext cx="9253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5193792"/>
            <a:ext cx="5285232" cy="0"/>
          </a:xfrm>
          <a:prstGeom prst="line">
            <a:avLst/>
          </a:prstGeom>
          <a:noFill/>
          <a:ln w="9525">
            <a:solidFill>
              <a:srgbClr val="8690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355080" y="5577840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資料來源：MUFG GMR, Asia FX Talk (4 Aug 2026)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內部資料｜嚴禁外流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528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7858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100" b="1" kern="0" spc="2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 ｜ </a:t>
            </a:r>
            <a:r>
              <a:rPr lang="en-US" altLang="zh-TW" sz="1100" b="1" kern="0" spc="200" dirty="0" err="1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美方動機</a:t>
            </a:r>
            <a:endParaRPr lang="en-US" altLang="zh-TW" sz="11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美國加入聯合干預的三大底層邏輯：保美債、保關稅、換投資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732661" cy="43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JPM: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單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邊突破機率低，USD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/JPY 進入「高波動、寬區間」常態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1 </a:t>
            </a:r>
            <a:r>
              <a:rPr lang="en-US" sz="1600" b="1" dirty="0" err="1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保美債：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JGB波動疑慮溢出美債市場；聯合干預間接降低美債長端波動</a:t>
            </a:r>
            <a:endParaRPr lang="en-US" sz="160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2 </a:t>
            </a:r>
            <a:r>
              <a:rPr lang="en-US" sz="1600" b="1" dirty="0" err="1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保關稅</a:t>
            </a:r>
            <a:r>
              <a:rPr lang="en-US" sz="16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耶魯大學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Budget Lab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：美國消費者面臨的平均有效關稅率約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18.3%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，為數十年最高。如果亞幣集體貶值，關稅的效果將被抵銷，將形同虛設。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暗示美國有救債以外的原因。</a:t>
            </a:r>
            <a:endParaRPr lang="en-US" altLang="zh-TW" sz="1600" dirty="0">
              <a:solidFill>
                <a:srgbClr val="051C2C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▪  </a:t>
            </a:r>
            <a:r>
              <a:rPr lang="en-US" sz="1600" b="1" dirty="0">
                <a:solidFill>
                  <a:srgbClr val="266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3 換投資：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以匯率支持為籌碼，為日本 </a:t>
            </a:r>
            <a:r>
              <a:rPr lang="en-US" sz="1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5500億美元</a:t>
            </a:r>
            <a:r>
              <a:rPr 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dirty="0" err="1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對美投資鋪路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(2025/7/22 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美日貿易協議：日本承諾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5,500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億美元對美投資，換取關稅從威脅的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25%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降至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15%</a:t>
            </a:r>
            <a:r>
              <a:rPr lang="zh-TW" altLang="en-US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r>
              <a:rPr lang="en-US" altLang="zh-TW" sz="1600" dirty="0">
                <a:solidFill>
                  <a:srgbClr val="051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內部資料｜嚴禁外流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528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7</a:t>
            </a:r>
            <a:endParaRPr lang="en-US" sz="900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4CD089EF-30EF-4631-8559-4F6C9E9AD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07326"/>
            <a:ext cx="5713490" cy="359123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C52A7AE-24BF-462E-BC31-594AC8F33A90}"/>
              </a:ext>
            </a:extLst>
          </p:cNvPr>
          <p:cNvSpPr txBox="1"/>
          <p:nvPr/>
        </p:nvSpPr>
        <p:spPr>
          <a:xfrm>
            <a:off x="5987359" y="5283947"/>
            <a:ext cx="61345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altLang="zh-TW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月的先例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：當時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JGB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長端飆升 → 美國擔心波動溢出到美債 → 所以</a:t>
            </a:r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同意配合 </a:t>
            </a:r>
            <a:r>
              <a:rPr lang="en-US" altLang="zh-TW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rate check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→ 事後證明有效（收益率回落）。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 rtl="0"/>
            <a:endParaRPr lang="zh-TW" altLang="en-US" sz="1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 rtl="0"/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現在的映射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JGB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長端現在比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月還高 → </a:t>
            </a:r>
            <a:r>
              <a:rPr lang="zh-TW" altLang="en-US" sz="12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同一個動機、更強的理由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→ 這就是美國願意打破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15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年慣例、加入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7/30–31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聯合干預、甚至談擴大 </a:t>
            </a:r>
            <a:r>
              <a:rPr lang="en-US" altLang="zh-TW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FIMA </a:t>
            </a:r>
            <a:r>
              <a:rPr lang="zh-TW" altLang="en-US" sz="1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的底層原因</a:t>
            </a:r>
            <a:r>
              <a:rPr lang="zh-TW" altLang="en-US" sz="1200" b="0" i="0" dirty="0">
                <a:solidFill>
                  <a:srgbClr val="00206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8692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Kinsey Colour">
      <a:dk1>
        <a:sysClr val="windowText" lastClr="000000"/>
      </a:dk1>
      <a:lt1>
        <a:sysClr val="window" lastClr="FFFFFF"/>
      </a:lt1>
      <a:dk2>
        <a:srgbClr val="1F3A5F"/>
      </a:dk2>
      <a:lt2>
        <a:srgbClr val="F2F2F2"/>
      </a:lt2>
      <a:accent1>
        <a:srgbClr val="1F3A5F"/>
      </a:accent1>
      <a:accent2>
        <a:srgbClr val="E31937"/>
      </a:accent2>
      <a:accent3>
        <a:srgbClr val="999999"/>
      </a:accent3>
      <a:accent4>
        <a:srgbClr val="FFC72C"/>
      </a:accent4>
      <a:accent5>
        <a:srgbClr val="0070C0"/>
      </a:accent5>
      <a:accent6>
        <a:srgbClr val="00B050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2306</Words>
  <Application>Microsoft Office PowerPoint</Application>
  <PresentationFormat>寬螢幕</PresentationFormat>
  <Paragraphs>178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Aptos</vt:lpstr>
      <vt:lpstr>微軟正黑體</vt:lpstr>
      <vt:lpstr>微軟正黑體</vt:lpstr>
      <vt:lpstr>新細明體</vt:lpstr>
      <vt:lpstr>Arial</vt:lpstr>
      <vt:lpstr>Calibri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陳冠升</cp:lastModifiedBy>
  <cp:revision>92</cp:revision>
  <dcterms:created xsi:type="dcterms:W3CDTF">2026-08-04T10:50:43Z</dcterms:created>
  <dcterms:modified xsi:type="dcterms:W3CDTF">2026-08-07T10:50:10Z</dcterms:modified>
</cp:coreProperties>
</file>