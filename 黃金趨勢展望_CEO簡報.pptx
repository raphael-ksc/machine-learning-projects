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2" r:id="rId2"/>
    <p:sldId id="264" r:id="rId3"/>
    <p:sldId id="257" r:id="rId4"/>
    <p:sldId id="258" r:id="rId5"/>
    <p:sldId id="259" r:id="rId6"/>
    <p:sldId id="260" r:id="rId7"/>
    <p:sldId id="263" r:id="rId8"/>
    <p:sldId id="26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1071" autoAdjust="0"/>
  </p:normalViewPr>
  <p:slideViewPr>
    <p:cSldViewPr snapToGrid="0" snapToObjects="1">
      <p:cViewPr>
        <p:scale>
          <a:sx n="100" d="100"/>
          <a:sy n="100" d="100"/>
        </p:scale>
        <p:origin x="95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536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altLang="zh-TW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5384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974182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847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  <a:alpha val="21000"/>
                </a:schemeClr>
              </a:gs>
              <a:gs pos="66000">
                <a:schemeClr val="accent1">
                  <a:lumMod val="95000"/>
                  <a:lumOff val="5000"/>
                  <a:alpha val="43000"/>
                </a:schemeClr>
              </a:gs>
              <a:gs pos="100000">
                <a:srgbClr val="002060">
                  <a:alpha val="94000"/>
                </a:srgbClr>
              </a:gs>
            </a:gsLst>
            <a:path path="circle">
              <a:fillToRect l="50000" t="130000" r="50000" b="-30000"/>
            </a:path>
            <a:tileRect/>
          </a:gradFill>
          <a:ln>
            <a:headEnd type="none"/>
            <a:tailEnd type="none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AutoShape 4"/>
          <p:cNvSpPr/>
          <p:nvPr/>
        </p:nvSpPr>
        <p:spPr>
          <a:xfrm>
            <a:off x="761810" y="2216497"/>
            <a:ext cx="418996" cy="19050"/>
          </a:xfrm>
          <a:prstGeom prst="rect">
            <a:avLst/>
          </a:prstGeom>
          <a:solidFill>
            <a:srgbClr val="C8A951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7" name="AutoShape 7"/>
          <p:cNvSpPr/>
          <p:nvPr/>
        </p:nvSpPr>
        <p:spPr>
          <a:xfrm>
            <a:off x="761810" y="3265141"/>
            <a:ext cx="609448" cy="28575"/>
          </a:xfrm>
          <a:prstGeom prst="roundRect">
            <a:avLst>
              <a:gd name="adj" fmla="val 50000"/>
            </a:avLst>
          </a:prstGeom>
          <a:solidFill>
            <a:srgbClr val="C8A951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F3440FDD-9B97-47F6-9DC8-2562FF112647}"/>
              </a:ext>
            </a:extLst>
          </p:cNvPr>
          <p:cNvSpPr/>
          <p:nvPr/>
        </p:nvSpPr>
        <p:spPr>
          <a:xfrm>
            <a:off x="761810" y="2338864"/>
            <a:ext cx="63023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黃金趨勢展望</a:t>
            </a:r>
            <a:r>
              <a:rPr lang="en-US" sz="3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Gold Prospects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682F1948-843A-4EDF-9D76-8BFB818AC8BF}"/>
              </a:ext>
            </a:extLst>
          </p:cNvPr>
          <p:cNvSpPr/>
          <p:nvPr/>
        </p:nvSpPr>
        <p:spPr>
          <a:xfrm>
            <a:off x="649842" y="3841418"/>
            <a:ext cx="63023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2050" name="Picture 2" descr="Richart - 登入">
            <a:extLst>
              <a:ext uri="{FF2B5EF4-FFF2-40B4-BE49-F238E27FC236}">
                <a16:creationId xmlns:a16="http://schemas.microsoft.com/office/drawing/2014/main" id="{103EEA4E-A9AB-4FD9-BB80-3E62D856B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6204" y="3841418"/>
            <a:ext cx="3444163" cy="2945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2319BB37-4745-4E7D-B8FF-91AA893DCCEF}"/>
              </a:ext>
            </a:extLst>
          </p:cNvPr>
          <p:cNvSpPr/>
          <p:nvPr/>
        </p:nvSpPr>
        <p:spPr>
          <a:xfrm>
            <a:off x="457351" y="10477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黃金趨勢展望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Gold Prospects</a:t>
            </a:r>
            <a:endParaRPr lang="en-US" sz="3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DC53418B-72EE-495B-9255-3AB24E95ECA7}"/>
              </a:ext>
            </a:extLst>
          </p:cNvPr>
          <p:cNvSpPr/>
          <p:nvPr/>
        </p:nvSpPr>
        <p:spPr>
          <a:xfrm>
            <a:off x="457353" y="900300"/>
            <a:ext cx="10954512" cy="621792"/>
          </a:xfrm>
          <a:prstGeom prst="roundRect">
            <a:avLst>
              <a:gd name="adj" fmla="val 8421"/>
            </a:avLst>
          </a:prstGeom>
          <a:solidFill>
            <a:schemeClr val="tx2">
              <a:lumMod val="50000"/>
            </a:schemeClr>
          </a:solidFill>
          <a:ln/>
        </p:spPr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48A4D8B0-0962-4BCC-A3D8-A3DBEEB06503}"/>
              </a:ext>
            </a:extLst>
          </p:cNvPr>
          <p:cNvSpPr/>
          <p:nvPr/>
        </p:nvSpPr>
        <p:spPr>
          <a:xfrm>
            <a:off x="731672" y="900300"/>
            <a:ext cx="107286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zh-TW" altLang="zh-TW" sz="2000" b="1" kern="0" dirty="0">
                <a:solidFill>
                  <a:schemeClr val="bg1">
                    <a:lumMod val="95000"/>
                  </a:schemeClr>
                </a:solidFill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黃金長期的看漲趨勢與背後邏輯</a:t>
            </a:r>
            <a:r>
              <a:rPr lang="zh-TW" altLang="en-US" sz="2000" b="1" kern="0" dirty="0">
                <a:solidFill>
                  <a:schemeClr val="bg1">
                    <a:lumMod val="95000"/>
                  </a:schemeClr>
                </a:solidFill>
                <a:effectLst/>
                <a:ea typeface="微軟正黑體 Light" panose="020B0304030504040204" pitchFamily="34" charset="-120"/>
                <a:cs typeface="新細明體" panose="02020500000000000000" pitchFamily="18" charset="-120"/>
              </a:rPr>
              <a:t> 依然完整適用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6FB93E75-9457-4C94-A90B-7EC0BE5499B5}"/>
              </a:ext>
            </a:extLst>
          </p:cNvPr>
          <p:cNvSpPr/>
          <p:nvPr/>
        </p:nvSpPr>
        <p:spPr>
          <a:xfrm>
            <a:off x="457352" y="1631905"/>
            <a:ext cx="3529584" cy="1371600"/>
          </a:xfrm>
          <a:prstGeom prst="roundRect">
            <a:avLst>
              <a:gd name="adj" fmla="val 5333"/>
            </a:avLst>
          </a:prstGeom>
          <a:solidFill>
            <a:schemeClr val="tx2">
              <a:lumMod val="50000"/>
            </a:schemeClr>
          </a:solidFill>
          <a:ln w="12700">
            <a:solidFill>
              <a:srgbClr val="3C5488"/>
            </a:solidFill>
            <a:prstDash val="solid"/>
          </a:ln>
        </p:spPr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EC9FC88C-E295-478F-ACD7-F8F2B56CC01C}"/>
              </a:ext>
            </a:extLst>
          </p:cNvPr>
          <p:cNvSpPr/>
          <p:nvPr/>
        </p:nvSpPr>
        <p:spPr>
          <a:xfrm>
            <a:off x="640232" y="1723345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45%</a:t>
            </a:r>
            <a:endParaRPr lang="en-US" sz="26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43126C25-08DA-4840-971A-221E19979ABC}"/>
              </a:ext>
            </a:extLst>
          </p:cNvPr>
          <p:cNvSpPr/>
          <p:nvPr/>
        </p:nvSpPr>
        <p:spPr>
          <a:xfrm>
            <a:off x="640232" y="2226265"/>
            <a:ext cx="3163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zh-TW" alt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世界黃金委員會</a:t>
            </a:r>
            <a:r>
              <a:rPr lang="en-US" altLang="zh-TW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(WGC)</a:t>
            </a: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：預期未來12個月增持黃金的央行比例，創歷史新高</a:t>
            </a:r>
            <a:endParaRPr lang="en-US" sz="1250" dirty="0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47650CE3-2682-473D-9EA5-C9DF2C40C368}"/>
              </a:ext>
            </a:extLst>
          </p:cNvPr>
          <p:cNvSpPr/>
          <p:nvPr/>
        </p:nvSpPr>
        <p:spPr>
          <a:xfrm>
            <a:off x="4169816" y="1631905"/>
            <a:ext cx="3529584" cy="1371600"/>
          </a:xfrm>
          <a:prstGeom prst="roundRect">
            <a:avLst>
              <a:gd name="adj" fmla="val 5333"/>
            </a:avLst>
          </a:prstGeom>
          <a:solidFill>
            <a:schemeClr val="tx2">
              <a:lumMod val="50000"/>
            </a:schemeClr>
          </a:solidFill>
          <a:ln w="12700">
            <a:solidFill>
              <a:srgbClr val="3C5488"/>
            </a:solidFill>
            <a:prstDash val="solid"/>
          </a:ln>
        </p:spPr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C6FB01CB-CF2A-4501-BA65-B7B2D1A4E515}"/>
              </a:ext>
            </a:extLst>
          </p:cNvPr>
          <p:cNvSpPr/>
          <p:nvPr/>
        </p:nvSpPr>
        <p:spPr>
          <a:xfrm>
            <a:off x="4352696" y="1723345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289公噸</a:t>
            </a:r>
            <a:endParaRPr lang="en-US" sz="26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D5784873-F786-4AF0-8D28-845862CA47FF}"/>
              </a:ext>
            </a:extLst>
          </p:cNvPr>
          <p:cNvSpPr/>
          <p:nvPr/>
        </p:nvSpPr>
        <p:spPr>
          <a:xfrm>
            <a:off x="4352696" y="2226265"/>
            <a:ext cx="3163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2026年Q2全球央行淨購金，創同期新高（金價當季重挫約16%期間）</a:t>
            </a:r>
            <a:endParaRPr lang="en-US" sz="125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BB889377-7D1B-4173-BF78-872E65559BE4}"/>
              </a:ext>
            </a:extLst>
          </p:cNvPr>
          <p:cNvSpPr/>
          <p:nvPr/>
        </p:nvSpPr>
        <p:spPr>
          <a:xfrm>
            <a:off x="7882280" y="1631905"/>
            <a:ext cx="3529584" cy="1371600"/>
          </a:xfrm>
          <a:prstGeom prst="roundRect">
            <a:avLst>
              <a:gd name="adj" fmla="val 5333"/>
            </a:avLst>
          </a:prstGeom>
          <a:solidFill>
            <a:schemeClr val="tx2">
              <a:lumMod val="50000"/>
            </a:schemeClr>
          </a:solidFill>
          <a:ln w="12700">
            <a:solidFill>
              <a:srgbClr val="3C5488"/>
            </a:solidFill>
            <a:prstDash val="solid"/>
          </a:ln>
        </p:spPr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E9B2143F-6D15-4266-B3DE-02F0B243BB12}"/>
              </a:ext>
            </a:extLst>
          </p:cNvPr>
          <p:cNvSpPr/>
          <p:nvPr/>
        </p:nvSpPr>
        <p:spPr>
          <a:xfrm>
            <a:off x="8065160" y="1723345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27%&gt;22%</a:t>
            </a:r>
            <a:endParaRPr lang="en-US" sz="26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2971D760-02BC-4442-9BED-267D8BEDA727}"/>
              </a:ext>
            </a:extLst>
          </p:cNvPr>
          <p:cNvSpPr/>
          <p:nvPr/>
        </p:nvSpPr>
        <p:spPr>
          <a:xfrm>
            <a:off x="8065160" y="2226265"/>
            <a:ext cx="3163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黃金占全球官方儲備比重首度超越美債（1996年以來首見）</a:t>
            </a:r>
            <a:endParaRPr lang="en-US" sz="1250" dirty="0"/>
          </a:p>
        </p:txBody>
      </p:sp>
      <p:pic>
        <p:nvPicPr>
          <p:cNvPr id="15" name="Image 0" descr="img/cover_gold_milestones.png">
            <a:extLst>
              <a:ext uri="{FF2B5EF4-FFF2-40B4-BE49-F238E27FC236}">
                <a16:creationId xmlns:a16="http://schemas.microsoft.com/office/drawing/2014/main" id="{054AEC0E-410B-4DC0-BD1C-13B084E70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51" y="3113318"/>
            <a:ext cx="5715713" cy="3182710"/>
          </a:xfrm>
          <a:prstGeom prst="rect">
            <a:avLst/>
          </a:prstGeom>
        </p:spPr>
      </p:pic>
      <p:pic>
        <p:nvPicPr>
          <p:cNvPr id="16" name="Image 1" descr="img/ecb_gold_ust.png">
            <a:extLst>
              <a:ext uri="{FF2B5EF4-FFF2-40B4-BE49-F238E27FC236}">
                <a16:creationId xmlns:a16="http://schemas.microsoft.com/office/drawing/2014/main" id="{DBBC8A16-4CA1-4A3D-826D-4A0033FA7E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1385" y="3078258"/>
            <a:ext cx="4978942" cy="321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551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94943" y="310896"/>
            <a:ext cx="87310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00" dirty="0" err="1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論點一</a:t>
            </a:r>
            <a:r>
              <a:rPr lang="en-US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．</a:t>
            </a:r>
            <a:r>
              <a:rPr lang="zh-TW" altLang="en-US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央行</a:t>
            </a:r>
            <a:r>
              <a:rPr lang="en-US" sz="1400" b="1" kern="0" spc="100" dirty="0" err="1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結構驅動</a:t>
            </a:r>
            <a:r>
              <a:rPr lang="zh-TW" altLang="en-US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與去美元化 </a:t>
            </a:r>
            <a:r>
              <a:rPr lang="en-US" altLang="zh-TW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Central Bank Structural Drivers and De-</a:t>
            </a:r>
            <a:r>
              <a:rPr lang="en-US" altLang="zh-TW" sz="1400" b="1" kern="0" spc="100" dirty="0" err="1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dollarisation</a:t>
            </a:r>
            <a:r>
              <a:rPr lang="en-US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央行結構性購金，去美元化持續進行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2394128" cy="841248"/>
          </a:xfrm>
          <a:prstGeom prst="roundRect">
            <a:avLst>
              <a:gd name="adj" fmla="val 8696"/>
            </a:avLst>
          </a:prstGeom>
          <a:solidFill>
            <a:srgbClr val="1B2A4A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170432"/>
            <a:ext cx="224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2022年俄羅斯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儲備遭西方凍結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 rot="5400000">
            <a:off x="2851328" y="1463040"/>
            <a:ext cx="219456" cy="256032"/>
          </a:xfrm>
          <a:prstGeom prst="triangle">
            <a:avLst/>
          </a:prstGeom>
          <a:solidFill>
            <a:srgbClr val="2E4370"/>
          </a:solidFill>
          <a:ln/>
        </p:spPr>
      </p:sp>
      <p:sp>
        <p:nvSpPr>
          <p:cNvPr id="8" name="Shape 6"/>
          <p:cNvSpPr/>
          <p:nvPr/>
        </p:nvSpPr>
        <p:spPr>
          <a:xfrm>
            <a:off x="3162224" y="1170432"/>
            <a:ext cx="2394128" cy="841248"/>
          </a:xfrm>
          <a:prstGeom prst="roundRect">
            <a:avLst>
              <a:gd name="adj" fmla="val 8696"/>
            </a:avLst>
          </a:prstGeom>
          <a:solidFill>
            <a:srgbClr val="1B2A4A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35376" y="1170432"/>
            <a:ext cx="224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各國央行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「去對手方風險」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意識提升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5400000">
            <a:off x="5556352" y="1463040"/>
            <a:ext cx="219456" cy="256032"/>
          </a:xfrm>
          <a:prstGeom prst="triangle">
            <a:avLst/>
          </a:prstGeom>
          <a:solidFill>
            <a:srgbClr val="2E4370"/>
          </a:solidFill>
          <a:ln/>
        </p:spPr>
      </p:sp>
      <p:sp>
        <p:nvSpPr>
          <p:cNvPr id="11" name="Shape 9"/>
          <p:cNvSpPr/>
          <p:nvPr/>
        </p:nvSpPr>
        <p:spPr>
          <a:xfrm>
            <a:off x="5867248" y="1170432"/>
            <a:ext cx="2394128" cy="841248"/>
          </a:xfrm>
          <a:prstGeom prst="roundRect">
            <a:avLst>
              <a:gd name="adj" fmla="val 8696"/>
            </a:avLst>
          </a:prstGeom>
          <a:solidFill>
            <a:srgbClr val="1B2A4A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0400" y="1170432"/>
            <a:ext cx="224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WGC調查：45%擴大購金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ECB：黃金超車美債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5400000">
            <a:off x="8261375" y="1463040"/>
            <a:ext cx="219456" cy="256032"/>
          </a:xfrm>
          <a:prstGeom prst="triangle">
            <a:avLst/>
          </a:prstGeom>
          <a:solidFill>
            <a:srgbClr val="2E4370"/>
          </a:solidFill>
          <a:ln/>
        </p:spPr>
      </p:sp>
      <p:sp>
        <p:nvSpPr>
          <p:cNvPr id="14" name="Shape 12"/>
          <p:cNvSpPr/>
          <p:nvPr/>
        </p:nvSpPr>
        <p:spPr>
          <a:xfrm>
            <a:off x="8572271" y="1170432"/>
            <a:ext cx="2394128" cy="841248"/>
          </a:xfrm>
          <a:prstGeom prst="roundRect">
            <a:avLst>
              <a:gd name="adj" fmla="val 8696"/>
            </a:avLst>
          </a:prstGeom>
          <a:solidFill>
            <a:srgbClr val="1B2A4A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45423" y="1170432"/>
            <a:ext cx="224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結構性多頭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買盤確立</a:t>
            </a:r>
            <a:endParaRPr lang="en-US" sz="1200" dirty="0"/>
          </a:p>
        </p:txBody>
      </p:sp>
      <p:pic>
        <p:nvPicPr>
          <p:cNvPr id="16" name="Image 0" descr="img/wgc_survey.png"/>
          <p:cNvPicPr>
            <a:picLocks noChangeAspect="1"/>
          </p:cNvPicPr>
          <p:nvPr/>
        </p:nvPicPr>
        <p:blipFill rotWithShape="1">
          <a:blip r:embed="rId3"/>
          <a:srcRect b="13708"/>
          <a:stretch/>
        </p:blipFill>
        <p:spPr>
          <a:xfrm>
            <a:off x="985217" y="3083100"/>
            <a:ext cx="4808879" cy="32114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27025" y="2252971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2022年俄羅斯逾3,000億美元海外儲備遭凍結，首開對G20央行大規模儲備凍結先例</a:t>
            </a:r>
            <a:endParaRPr lang="en-US" sz="1400" dirty="0"/>
          </a:p>
          <a:p>
            <a:pPr marL="177800" indent="-177800" algn="l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JPM原文：地緣政治不穩定「remain primary considerations」——為新興市場央行儲備決策首要考量（Metals Weekly, p.3）</a:t>
            </a:r>
            <a:endParaRPr lang="en-US" sz="1400" dirty="0"/>
          </a:p>
          <a:p>
            <a:pPr marL="177800" indent="-177800" algn="l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2025年10月歐盟研議動用凍結資產援烏，分析師警示恐進一步加速央行購金（Reuters）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57200" y="642823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資料來源：J.P. Morgan《Metals Weekly》(10 Jul 2026) p.2-3；ECB, "The International Role of the Euro" (2 Jun 2026)；World Gold Council 2026 Survey；Reuters (14 Oct 2025)。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0424160" y="6428232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/ 06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57200" y="6382512"/>
            <a:ext cx="11277295" cy="0"/>
          </a:xfrm>
          <a:prstGeom prst="line">
            <a:avLst/>
          </a:prstGeom>
          <a:noFill/>
          <a:ln w="9525">
            <a:solidFill>
              <a:srgbClr val="C9CFDA"/>
            </a:solidFill>
            <a:prstDash val="solid"/>
          </a:ln>
        </p:spPr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5D90919D-6CFA-4505-9EC7-F74AB26CD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859" y="3165459"/>
            <a:ext cx="5036325" cy="32170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310896"/>
            <a:ext cx="97907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00" dirty="0" err="1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論點一</a:t>
            </a:r>
            <a:r>
              <a:rPr lang="en-US" altLang="zh-TW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</a:t>
            </a:r>
            <a:r>
              <a:rPr lang="en-US" sz="1400" b="1" kern="0" spc="100" dirty="0" err="1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</a:t>
            </a:r>
            <a:r>
              <a:rPr lang="en-US" altLang="zh-TW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r>
              <a:rPr lang="en-US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．</a:t>
            </a:r>
            <a:r>
              <a:rPr lang="zh-TW" altLang="en-US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摩根</a:t>
            </a:r>
            <a:r>
              <a:rPr lang="en-US" altLang="zh-TW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:</a:t>
            </a:r>
            <a:r>
              <a:rPr lang="zh-TW" altLang="en-US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機械式黃金儲備機制 </a:t>
            </a:r>
            <a:r>
              <a:rPr lang="en-US" altLang="zh-TW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Formulaic,</a:t>
            </a:r>
            <a:r>
              <a:rPr lang="zh-TW" altLang="en-US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altLang="zh-TW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self-corrected elasticity of gold reserves</a:t>
            </a:r>
            <a:r>
              <a:rPr lang="en-US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金價下跌，反而觸發更多買盤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2394128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170432"/>
            <a:ext cx="2247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金價下跌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 rot="5400000">
            <a:off x="2851328" y="1431036"/>
            <a:ext cx="219456" cy="256032"/>
          </a:xfrm>
          <a:prstGeom prst="triangle">
            <a:avLst/>
          </a:prstGeom>
          <a:solidFill>
            <a:srgbClr val="2E4370"/>
          </a:solidFill>
          <a:ln/>
        </p:spPr>
      </p:sp>
      <p:sp>
        <p:nvSpPr>
          <p:cNvPr id="8" name="Shape 6"/>
          <p:cNvSpPr/>
          <p:nvPr/>
        </p:nvSpPr>
        <p:spPr>
          <a:xfrm>
            <a:off x="3162224" y="1170432"/>
            <a:ext cx="2394128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35376" y="1170432"/>
            <a:ext cx="2247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既有黃金占比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機械性侵蝕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 rot="5400000">
            <a:off x="5556352" y="1431036"/>
            <a:ext cx="219456" cy="256032"/>
          </a:xfrm>
          <a:prstGeom prst="triangle">
            <a:avLst/>
          </a:prstGeom>
          <a:solidFill>
            <a:srgbClr val="2E4370"/>
          </a:solidFill>
          <a:ln/>
        </p:spPr>
      </p:sp>
      <p:sp>
        <p:nvSpPr>
          <p:cNvPr id="11" name="Shape 9"/>
          <p:cNvSpPr/>
          <p:nvPr/>
        </p:nvSpPr>
        <p:spPr>
          <a:xfrm>
            <a:off x="5867248" y="1170432"/>
            <a:ext cx="2394128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0400" y="1170432"/>
            <a:ext cx="2247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需買入更多噸數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才能達成目標占比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 rot="5400000">
            <a:off x="8261375" y="1431036"/>
            <a:ext cx="219456" cy="256032"/>
          </a:xfrm>
          <a:prstGeom prst="triangle">
            <a:avLst/>
          </a:prstGeom>
          <a:solidFill>
            <a:srgbClr val="2E4370"/>
          </a:solidFill>
          <a:ln/>
        </p:spPr>
      </p:sp>
      <p:sp>
        <p:nvSpPr>
          <p:cNvPr id="14" name="Shape 12"/>
          <p:cNvSpPr/>
          <p:nvPr/>
        </p:nvSpPr>
        <p:spPr>
          <a:xfrm>
            <a:off x="8572271" y="1170432"/>
            <a:ext cx="2394128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45423" y="1170432"/>
            <a:ext cx="2247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央行逢低買盤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增強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011680"/>
            <a:ext cx="11277295" cy="310896"/>
          </a:xfrm>
          <a:prstGeom prst="roundRect">
            <a:avLst>
              <a:gd name="adj" fmla="val 14706"/>
            </a:avLst>
          </a:prstGeom>
          <a:solidFill>
            <a:srgbClr val="F2F4F8"/>
          </a:solidFill>
          <a:ln w="9525">
            <a:solidFill>
              <a:srgbClr val="2E437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94360" y="2011680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↺ 自我強化循環：第4步完成後回到第1步，形成部分自我修正的機制性下檔支撐（非情緒性買盤）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20040" y="5614416"/>
            <a:ext cx="112772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波蘭2026年迄今已購入82公噸，朝700公噸目標邁進；總裁公開表示正「taking advantage of the recent price drops」</a:t>
            </a:r>
            <a:endParaRPr lang="en-US" sz="1400" dirty="0"/>
          </a:p>
          <a:p>
            <a:pPr marL="177800" indent="-177800" algn="l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JPM測算：EM央行黃金占比目標若為25%，金價自$5,000跌至$4,000，所需額外購金量從2,360公噸倍增至逾5,500公噸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57200" y="642823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資料來源：J.P. Morgan《Metals Weekly》(10 Jul 2026) p.5-7；UBS, "China Precious Metals" (10 Aug 2026)；PBoC／SAFE官方數據。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424160" y="6428232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/ 06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6382512"/>
            <a:ext cx="11277295" cy="0"/>
          </a:xfrm>
          <a:prstGeom prst="line">
            <a:avLst/>
          </a:prstGeom>
          <a:noFill/>
          <a:ln w="9525">
            <a:solidFill>
              <a:srgbClr val="C9CFDA"/>
            </a:solidFill>
            <a:prstDash val="solid"/>
          </a:ln>
        </p:spPr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AB78D51F-0576-464E-B704-762C55B21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137" y="2434269"/>
            <a:ext cx="4443262" cy="3049886"/>
          </a:xfrm>
          <a:prstGeom prst="rect">
            <a:avLst/>
          </a:prstGeom>
        </p:spPr>
      </p:pic>
      <p:pic>
        <p:nvPicPr>
          <p:cNvPr id="18" name="Image 0" descr="img/pboc_updated.png"/>
          <p:cNvPicPr>
            <a:picLocks noChangeAspect="1"/>
          </p:cNvPicPr>
          <p:nvPr/>
        </p:nvPicPr>
        <p:blipFill rotWithShape="1">
          <a:blip r:embed="rId4"/>
          <a:srcRect r="15724"/>
          <a:stretch/>
        </p:blipFill>
        <p:spPr>
          <a:xfrm>
            <a:off x="530352" y="2377922"/>
            <a:ext cx="5383516" cy="31907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31089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00" dirty="0" err="1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論點二．總經催化劑</a:t>
            </a:r>
            <a:r>
              <a:rPr lang="en-US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US Uncertainty Stimulator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美國總經不確定性升高，構成資金輪動催化劑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2394128" cy="841248"/>
          </a:xfrm>
          <a:prstGeom prst="roundRect">
            <a:avLst>
              <a:gd name="adj" fmla="val 8696"/>
            </a:avLst>
          </a:prstGeom>
          <a:solidFill>
            <a:srgbClr val="1B2A4A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170432"/>
            <a:ext cx="224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財政赤字結構性擴大</a:t>
            </a:r>
            <a:endParaRPr lang="en-US" sz="1200" b="1" dirty="0">
              <a:solidFill>
                <a:srgbClr val="FFFFFF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altLang="zh-TW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</a:t>
            </a:r>
            <a:r>
              <a:rPr lang="zh-TW" alt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</a:t>
            </a:r>
            <a:r>
              <a:rPr lang="en-US" altLang="zh-TW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r>
              <a:rPr lang="zh-TW" alt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年的</a:t>
            </a:r>
            <a:r>
              <a:rPr lang="en-US" altLang="zh-TW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1.38</a:t>
            </a:r>
            <a:r>
              <a:rPr lang="zh-TW" alt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兆攀升到</a:t>
            </a:r>
            <a:r>
              <a:rPr lang="en-US" altLang="zh-TW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</a:t>
            </a:r>
            <a:r>
              <a:rPr lang="zh-TW" alt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年的</a:t>
            </a:r>
            <a:r>
              <a:rPr lang="en-US" altLang="zh-TW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1.85</a:t>
            </a:r>
            <a:r>
              <a:rPr lang="zh-TW" alt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兆美元，約</a:t>
            </a:r>
            <a:r>
              <a:rPr lang="en-US" altLang="zh-TW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GPD6.2%)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 rot="5400000">
            <a:off x="2851328" y="1463040"/>
            <a:ext cx="219456" cy="256032"/>
          </a:xfrm>
          <a:prstGeom prst="triangle">
            <a:avLst/>
          </a:prstGeom>
          <a:solidFill>
            <a:srgbClr val="2E4370"/>
          </a:solidFill>
          <a:ln/>
        </p:spPr>
      </p:sp>
      <p:sp>
        <p:nvSpPr>
          <p:cNvPr id="8" name="Shape 6"/>
          <p:cNvSpPr/>
          <p:nvPr/>
        </p:nvSpPr>
        <p:spPr>
          <a:xfrm>
            <a:off x="3162224" y="1170432"/>
            <a:ext cx="2394128" cy="841248"/>
          </a:xfrm>
          <a:prstGeom prst="roundRect">
            <a:avLst>
              <a:gd name="adj" fmla="val 8696"/>
            </a:avLst>
          </a:prstGeom>
          <a:solidFill>
            <a:srgbClr val="1B2A4A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35376" y="1170432"/>
            <a:ext cx="224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三大信評機構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全數調降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(2011/2023/2025)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5400000">
            <a:off x="5556352" y="1463040"/>
            <a:ext cx="219456" cy="256032"/>
          </a:xfrm>
          <a:prstGeom prst="triangle">
            <a:avLst/>
          </a:prstGeom>
          <a:solidFill>
            <a:srgbClr val="2E4370"/>
          </a:solidFill>
          <a:ln/>
        </p:spPr>
      </p:sp>
      <p:sp>
        <p:nvSpPr>
          <p:cNvPr id="11" name="Shape 9"/>
          <p:cNvSpPr/>
          <p:nvPr/>
        </p:nvSpPr>
        <p:spPr>
          <a:xfrm>
            <a:off x="5867248" y="1170432"/>
            <a:ext cx="2394128" cy="841248"/>
          </a:xfrm>
          <a:prstGeom prst="roundRect">
            <a:avLst>
              <a:gd name="adj" fmla="val 8696"/>
            </a:avLst>
          </a:prstGeom>
          <a:solidFill>
            <a:srgbClr val="1B2A4A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0400" y="1170432"/>
            <a:ext cx="224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市場對美元資產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信任邊際減弱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5400000">
            <a:off x="8261375" y="1463040"/>
            <a:ext cx="219456" cy="256032"/>
          </a:xfrm>
          <a:prstGeom prst="triangle">
            <a:avLst/>
          </a:prstGeom>
          <a:solidFill>
            <a:srgbClr val="2E4370"/>
          </a:solidFill>
          <a:ln/>
        </p:spPr>
      </p:sp>
      <p:sp>
        <p:nvSpPr>
          <p:cNvPr id="14" name="Shape 12"/>
          <p:cNvSpPr/>
          <p:nvPr/>
        </p:nvSpPr>
        <p:spPr>
          <a:xfrm>
            <a:off x="8572271" y="1170432"/>
            <a:ext cx="2394128" cy="841248"/>
          </a:xfrm>
          <a:prstGeom prst="roundRect">
            <a:avLst>
              <a:gd name="adj" fmla="val 8696"/>
            </a:avLst>
          </a:prstGeom>
          <a:solidFill>
            <a:schemeClr val="accent2">
              <a:lumMod val="50000"/>
            </a:schemeClr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45423" y="1170432"/>
            <a:ext cx="224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資金尋求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另類保值資產</a:t>
            </a:r>
            <a:endParaRPr lang="en-US" sz="1200" dirty="0"/>
          </a:p>
        </p:txBody>
      </p:sp>
      <p:pic>
        <p:nvPicPr>
          <p:cNvPr id="17" name="Image 1" descr="img/us_deficit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27082"/>
            <a:ext cx="5394960" cy="304284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5468112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2026年7月科技／AI概念股劇烈波動，資金輪動訴求強化（華泰固收研究, 6 Aug 2026）；Moody's降評聲明：「歷屆政府與國會均未能扭轉財政赤字與利息成本擴大的趨勢」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57200" y="642823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資料來源：FRED (USEPUINDXM／FYFSGDA188S)，retrieved 13 Aug 2026；CBO, "Budget and Economic Outlook 2026-2036" (Feb 2026)；Moody's Ratings (16 May 2025)；華泰固收研究 (6 Aug 2026)。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0424160" y="6428232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/ 06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57200" y="6382512"/>
            <a:ext cx="11277295" cy="0"/>
          </a:xfrm>
          <a:prstGeom prst="line">
            <a:avLst/>
          </a:prstGeom>
          <a:noFill/>
          <a:ln w="9525">
            <a:solidFill>
              <a:srgbClr val="C9CFDA"/>
            </a:solidFill>
            <a:prstDash val="solid"/>
          </a:ln>
        </p:spPr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DFCA67EB-8F8B-4E3A-A3B7-1FD2996B17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712" y="2148840"/>
            <a:ext cx="4791604" cy="29228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31089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00" dirty="0" err="1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論點三</a:t>
            </a:r>
            <a:r>
              <a:rPr lang="en-US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．</a:t>
            </a:r>
            <a:r>
              <a:rPr lang="zh-TW" altLang="en-US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美國利率 </a:t>
            </a:r>
            <a:r>
              <a:rPr lang="en-US" altLang="zh-TW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</a:t>
            </a:r>
            <a:r>
              <a:rPr lang="zh-TW" altLang="en-US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altLang="zh-TW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Rates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實質利率與Fed路徑：短期最主要的邊際定價因子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2394128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170432"/>
            <a:ext cx="2247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黃金</a:t>
            </a:r>
            <a:r>
              <a:rPr lang="zh-TW" alt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無產生利</a:t>
            </a: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 rot="5400000">
            <a:off x="2851328" y="1431036"/>
            <a:ext cx="219456" cy="256032"/>
          </a:xfrm>
          <a:prstGeom prst="triangle">
            <a:avLst/>
          </a:prstGeom>
          <a:solidFill>
            <a:srgbClr val="2E4370"/>
          </a:solidFill>
          <a:ln/>
        </p:spPr>
      </p:sp>
      <p:sp>
        <p:nvSpPr>
          <p:cNvPr id="8" name="Shape 6"/>
          <p:cNvSpPr/>
          <p:nvPr/>
        </p:nvSpPr>
        <p:spPr>
          <a:xfrm>
            <a:off x="3162224" y="1170432"/>
            <a:ext cx="2394128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35376" y="1170432"/>
            <a:ext cx="2247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實質利率↓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＝機會成本↓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5400000">
            <a:off x="5556352" y="1431036"/>
            <a:ext cx="219456" cy="256032"/>
          </a:xfrm>
          <a:prstGeom prst="triangle">
            <a:avLst/>
          </a:prstGeom>
          <a:solidFill>
            <a:srgbClr val="2E4370"/>
          </a:solidFill>
          <a:ln/>
        </p:spPr>
      </p:sp>
      <p:sp>
        <p:nvSpPr>
          <p:cNvPr id="11" name="Shape 9"/>
          <p:cNvSpPr/>
          <p:nvPr/>
        </p:nvSpPr>
        <p:spPr>
          <a:xfrm>
            <a:off x="5867248" y="1170432"/>
            <a:ext cx="2394128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0400" y="1170432"/>
            <a:ext cx="2247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黃金吸引力↑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5400000">
            <a:off x="8261375" y="1431036"/>
            <a:ext cx="219456" cy="256032"/>
          </a:xfrm>
          <a:prstGeom prst="triangle">
            <a:avLst/>
          </a:prstGeom>
          <a:solidFill>
            <a:srgbClr val="2E4370"/>
          </a:solidFill>
          <a:ln/>
        </p:spPr>
      </p:sp>
      <p:sp>
        <p:nvSpPr>
          <p:cNvPr id="14" name="Shape 12"/>
          <p:cNvSpPr/>
          <p:nvPr/>
        </p:nvSpPr>
        <p:spPr>
          <a:xfrm>
            <a:off x="8572271" y="1170432"/>
            <a:ext cx="2394128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  <a:effectLst>
            <a:outerShdw blurRad="50800" dist="254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45423" y="1170432"/>
            <a:ext cx="2247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7月NFP轉負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Fed難維持鷹派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255790"/>
            <a:ext cx="11277295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華泰：7月以來金價與美債利率開始「脫鉤」，或代表央行等非市場化買盤正發揮托底作用（6月以來中國、韓國央行同步加速／重啟購金</a:t>
            </a:r>
            <a:r>
              <a:rPr lang="en-US" altLang="zh-TW" sz="1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42823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資料來源：華泰固收研究 (6 Aug 2026) p.1-2；UBS, "China Precious Metals: Gold breaks key resistance" (10 Aug 2026) p.1-2。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424160" y="6428232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/ 06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6382512"/>
            <a:ext cx="11277295" cy="0"/>
          </a:xfrm>
          <a:prstGeom prst="line">
            <a:avLst/>
          </a:prstGeom>
          <a:noFill/>
          <a:ln w="9525">
            <a:solidFill>
              <a:srgbClr val="C9CFDA"/>
            </a:solidFill>
            <a:prstDash val="solid"/>
          </a:ln>
        </p:spPr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76BDA6D4-8866-4E40-9FF4-3DBCE916F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248" y="2208276"/>
            <a:ext cx="5001806" cy="2768622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12AD1D62-5724-439E-A009-5A77D0F44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46" y="2117997"/>
            <a:ext cx="4679419" cy="27923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E7CE97-9ED2-4D5D-800E-8781105EB497}"/>
              </a:ext>
            </a:extLst>
          </p:cNvPr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476921F-F974-49CA-B0C4-27A93B45B4E6}"/>
              </a:ext>
            </a:extLst>
          </p:cNvPr>
          <p:cNvSpPr/>
          <p:nvPr/>
        </p:nvSpPr>
        <p:spPr>
          <a:xfrm>
            <a:off x="694944" y="31089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歷史宏觀分析 </a:t>
            </a:r>
            <a:r>
              <a:rPr lang="en-US" altLang="zh-TW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Macroeconomic Retrospectives and Analysis</a:t>
            </a:r>
            <a:endParaRPr lang="en-US" sz="1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81EBA88-E292-416E-82E4-5D696D4E8E03}"/>
              </a:ext>
            </a:extLst>
          </p:cNvPr>
          <p:cNvSpPr/>
          <p:nvPr/>
        </p:nvSpPr>
        <p:spPr>
          <a:xfrm>
            <a:off x="457200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20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歷史上，三次黃金上升超級週期都有的核心驅動邏輯 </a:t>
            </a:r>
            <a:r>
              <a:rPr lang="en-US" altLang="zh-TW" sz="20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</a:t>
            </a:r>
            <a:r>
              <a:rPr lang="zh-TW" altLang="en-US" sz="20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實質利率、貨幣信任、地緣政治壓力</a:t>
            </a:r>
            <a:endParaRPr lang="en-US" sz="20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888A10B-3EF7-416F-BFE6-A661D8A0E8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297859"/>
              </p:ext>
            </p:extLst>
          </p:nvPr>
        </p:nvGraphicFramePr>
        <p:xfrm>
          <a:off x="964384" y="1318777"/>
          <a:ext cx="9502806" cy="49464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78599">
                  <a:extLst>
                    <a:ext uri="{9D8B030D-6E8A-4147-A177-3AD203B41FA5}">
                      <a16:colId xmlns:a16="http://schemas.microsoft.com/office/drawing/2014/main" val="2179292423"/>
                    </a:ext>
                  </a:extLst>
                </a:gridCol>
                <a:gridCol w="2337588">
                  <a:extLst>
                    <a:ext uri="{9D8B030D-6E8A-4147-A177-3AD203B41FA5}">
                      <a16:colId xmlns:a16="http://schemas.microsoft.com/office/drawing/2014/main" val="3395844011"/>
                    </a:ext>
                  </a:extLst>
                </a:gridCol>
                <a:gridCol w="2947394">
                  <a:extLst>
                    <a:ext uri="{9D8B030D-6E8A-4147-A177-3AD203B41FA5}">
                      <a16:colId xmlns:a16="http://schemas.microsoft.com/office/drawing/2014/main" val="4151513151"/>
                    </a:ext>
                  </a:extLst>
                </a:gridCol>
                <a:gridCol w="2439225">
                  <a:extLst>
                    <a:ext uri="{9D8B030D-6E8A-4147-A177-3AD203B41FA5}">
                      <a16:colId xmlns:a16="http://schemas.microsoft.com/office/drawing/2014/main" val="2189648756"/>
                    </a:ext>
                  </a:extLst>
                </a:gridCol>
              </a:tblGrid>
              <a:tr h="575696"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effectLst/>
                        </a:rPr>
                        <a:t>週期</a:t>
                      </a:r>
                      <a:endParaRPr lang="zh-TW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69850" marR="69850" marT="57150" marB="57150"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effectLst/>
                        </a:rPr>
                        <a:t>漲幅與時長</a:t>
                      </a:r>
                      <a:endParaRPr lang="zh-TW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69850" marR="69850" marT="57150" marB="57150"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effectLst/>
                        </a:rPr>
                        <a:t>核心</a:t>
                      </a:r>
                      <a:r>
                        <a:rPr lang="zh-TW" altLang="en-US" sz="1400" dirty="0">
                          <a:effectLst/>
                        </a:rPr>
                        <a:t>黃金上漲</a:t>
                      </a:r>
                      <a:r>
                        <a:rPr lang="zh-TW" sz="1400" dirty="0">
                          <a:effectLst/>
                        </a:rPr>
                        <a:t>驅動因子</a:t>
                      </a:r>
                      <a:endParaRPr lang="zh-TW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69850" marR="69850" marT="57150" marB="57150"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effectLst/>
                        </a:rPr>
                        <a:t>上漲</a:t>
                      </a:r>
                      <a:r>
                        <a:rPr lang="zh-TW" sz="1400" dirty="0">
                          <a:effectLst/>
                        </a:rPr>
                        <a:t>週期終結</a:t>
                      </a:r>
                      <a:r>
                        <a:rPr lang="zh-TW" altLang="en-US" sz="1400" dirty="0">
                          <a:effectLst/>
                        </a:rPr>
                        <a:t>原因</a:t>
                      </a:r>
                      <a:endParaRPr lang="zh-TW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69850" marR="69850" marT="57150" marB="57150"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854193"/>
                  </a:ext>
                </a:extLst>
              </a:tr>
              <a:tr h="1227425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lang="zh-TW" sz="1400" dirty="0">
                          <a:effectLst/>
                        </a:rPr>
                        <a:t>週期一</a:t>
                      </a:r>
                      <a:r>
                        <a:rPr lang="en-US" sz="1400" dirty="0">
                          <a:effectLst/>
                        </a:rPr>
                        <a:t> 1971–1980 </a:t>
                      </a:r>
                      <a:r>
                        <a:rPr lang="zh-TW" sz="1400" dirty="0">
                          <a:effectLst/>
                        </a:rPr>
                        <a:t>布列敦森林</a:t>
                      </a:r>
                      <a:r>
                        <a:rPr lang="en-US" altLang="zh-TW" sz="1400" dirty="0">
                          <a:effectLst/>
                        </a:rPr>
                        <a:t>(Bretton Woods)</a:t>
                      </a:r>
                      <a:r>
                        <a:rPr lang="zh-TW" sz="1400" dirty="0">
                          <a:effectLst/>
                        </a:rPr>
                        <a:t>瓦解／停滯性通膨</a:t>
                      </a:r>
                      <a:r>
                        <a:rPr lang="en-US" altLang="zh-TW" sz="1400" dirty="0">
                          <a:effectLst/>
                        </a:rPr>
                        <a:t>(Stagflation)</a:t>
                      </a:r>
                      <a:endParaRPr lang="zh-TW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69850" marR="69850" marT="50800" marB="5080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lang="zh-TW" sz="1400" dirty="0">
                          <a:effectLst/>
                        </a:rPr>
                        <a:t>約</a:t>
                      </a:r>
                      <a:r>
                        <a:rPr lang="en-US" sz="1400" dirty="0">
                          <a:effectLst/>
                        </a:rPr>
                        <a:t> $35 → $850 +2,329%</a:t>
                      </a:r>
                      <a:r>
                        <a:rPr lang="zh-TW" sz="1400" dirty="0">
                          <a:effectLst/>
                        </a:rPr>
                        <a:t>，歷時約</a:t>
                      </a:r>
                      <a:r>
                        <a:rPr lang="en-US" sz="1400" dirty="0">
                          <a:effectLst/>
                        </a:rPr>
                        <a:t>9</a:t>
                      </a:r>
                      <a:r>
                        <a:rPr lang="zh-TW" sz="1400" dirty="0">
                          <a:effectLst/>
                        </a:rPr>
                        <a:t>年</a:t>
                      </a:r>
                      <a:endParaRPr lang="zh-TW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69850" marR="69850" marT="50800" marB="508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lang="zh-TW" sz="1400" dirty="0">
                          <a:effectLst/>
                        </a:rPr>
                        <a:t>越戰財政赤字、</a:t>
                      </a:r>
                      <a:r>
                        <a:rPr lang="en-US" sz="1400" dirty="0">
                          <a:effectLst/>
                        </a:rPr>
                        <a:t>1973</a:t>
                      </a:r>
                      <a:r>
                        <a:rPr lang="zh-TW" sz="1400" dirty="0">
                          <a:effectLst/>
                        </a:rPr>
                        <a:t>／</a:t>
                      </a:r>
                      <a:r>
                        <a:rPr lang="en-US" sz="1400" dirty="0">
                          <a:effectLst/>
                        </a:rPr>
                        <a:t>1979</a:t>
                      </a:r>
                      <a:r>
                        <a:rPr lang="zh-TW" sz="1400" dirty="0">
                          <a:effectLst/>
                        </a:rPr>
                        <a:t>石油危機、雙位數通膨、美元與黃金脫鉤</a:t>
                      </a:r>
                      <a:endParaRPr lang="zh-TW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69850" marR="69850" marT="50800" marB="508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lang="en-US" sz="1400">
                          <a:effectLst/>
                        </a:rPr>
                        <a:t>Fed</a:t>
                      </a:r>
                      <a:r>
                        <a:rPr lang="zh-TW" sz="1400">
                          <a:effectLst/>
                        </a:rPr>
                        <a:t>主席</a:t>
                      </a:r>
                      <a:r>
                        <a:rPr lang="en-US" sz="1400">
                          <a:effectLst/>
                        </a:rPr>
                        <a:t>Volcker</a:t>
                      </a:r>
                      <a:r>
                        <a:rPr lang="zh-TW" sz="1400">
                          <a:effectLst/>
                        </a:rPr>
                        <a:t>將利率大幅推升至</a:t>
                      </a:r>
                      <a:r>
                        <a:rPr lang="en-US" sz="1400">
                          <a:effectLst/>
                        </a:rPr>
                        <a:t>20%</a:t>
                      </a:r>
                      <a:r>
                        <a:rPr lang="zh-TW" sz="1400">
                          <a:effectLst/>
                        </a:rPr>
                        <a:t>，強力拉高實質利率，終結通膨與黃金牛市</a:t>
                      </a:r>
                      <a:endParaRPr lang="zh-TW" sz="14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69850" marR="69850" marT="50800" marB="508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368690"/>
                  </a:ext>
                </a:extLst>
              </a:tr>
              <a:tr h="1232512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lang="zh-TW" sz="1400" dirty="0">
                          <a:effectLst/>
                        </a:rPr>
                        <a:t>週期二</a:t>
                      </a:r>
                      <a:r>
                        <a:rPr lang="en-US" sz="1400" dirty="0">
                          <a:effectLst/>
                        </a:rPr>
                        <a:t> 2001–2011 </a:t>
                      </a:r>
                      <a:r>
                        <a:rPr lang="zh-TW" sz="1400" dirty="0">
                          <a:effectLst/>
                        </a:rPr>
                        <a:t>達康泡沫／金融危機／</a:t>
                      </a:r>
                      <a:r>
                        <a:rPr lang="zh-TW" altLang="en-US" sz="1400" dirty="0">
                          <a:effectLst/>
                        </a:rPr>
                        <a:t>量化寬鬆</a:t>
                      </a:r>
                      <a:r>
                        <a:rPr lang="en-US" altLang="zh-TW" sz="1400" dirty="0">
                          <a:effectLst/>
                        </a:rPr>
                        <a:t>QE</a:t>
                      </a:r>
                      <a:endParaRPr lang="zh-TW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69850" marR="69850" marT="50800" marB="5080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lang="zh-TW" sz="1400" dirty="0">
                          <a:effectLst/>
                        </a:rPr>
                        <a:t>約</a:t>
                      </a:r>
                      <a:r>
                        <a:rPr lang="en-US" sz="1400" dirty="0">
                          <a:effectLst/>
                        </a:rPr>
                        <a:t> $250 → $1,920 +660%</a:t>
                      </a:r>
                      <a:r>
                        <a:rPr lang="zh-TW" sz="1400" dirty="0">
                          <a:effectLst/>
                        </a:rPr>
                        <a:t>，歷時約</a:t>
                      </a:r>
                      <a:r>
                        <a:rPr lang="en-US" sz="1400" dirty="0">
                          <a:effectLst/>
                        </a:rPr>
                        <a:t>10</a:t>
                      </a:r>
                      <a:r>
                        <a:rPr lang="zh-TW" sz="1400" dirty="0">
                          <a:effectLst/>
                        </a:rPr>
                        <a:t>年</a:t>
                      </a:r>
                      <a:endParaRPr lang="zh-TW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69850" marR="69850" marT="50800" marB="508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lang="zh-TW" sz="1400" dirty="0">
                          <a:effectLst/>
                        </a:rPr>
                        <a:t>達康泡沫破裂、</a:t>
                      </a:r>
                      <a:r>
                        <a:rPr lang="en-US" sz="1400" dirty="0">
                          <a:effectLst/>
                        </a:rPr>
                        <a:t>911</a:t>
                      </a:r>
                      <a:r>
                        <a:rPr lang="zh-TW" sz="1400" dirty="0">
                          <a:effectLst/>
                        </a:rPr>
                        <a:t>地緣不確定性、</a:t>
                      </a:r>
                      <a:r>
                        <a:rPr lang="en-US" sz="1400" dirty="0">
                          <a:effectLst/>
                        </a:rPr>
                        <a:t>2008</a:t>
                      </a:r>
                      <a:r>
                        <a:rPr lang="zh-TW" sz="1400" dirty="0">
                          <a:effectLst/>
                        </a:rPr>
                        <a:t>金融危機、量化寬鬆、歐債危機</a:t>
                      </a:r>
                      <a:endParaRPr lang="zh-TW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69850" marR="69850" marT="50800" marB="508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lang="zh-TW" sz="1400" dirty="0">
                          <a:effectLst/>
                        </a:rPr>
                        <a:t>系統性壓力緩解，</a:t>
                      </a:r>
                      <a:r>
                        <a:rPr lang="en-US" sz="1400" dirty="0">
                          <a:effectLst/>
                        </a:rPr>
                        <a:t>Fed</a:t>
                      </a:r>
                      <a:r>
                        <a:rPr lang="zh-TW" sz="1400" dirty="0">
                          <a:effectLst/>
                        </a:rPr>
                        <a:t>退出</a:t>
                      </a:r>
                      <a:r>
                        <a:rPr lang="en-US" sz="1400" dirty="0">
                          <a:effectLst/>
                        </a:rPr>
                        <a:t>QE</a:t>
                      </a:r>
                      <a:r>
                        <a:rPr lang="zh-TW" sz="1400" dirty="0">
                          <a:effectLst/>
                        </a:rPr>
                        <a:t>、啟動升息預期，實質利率回歸正常化</a:t>
                      </a:r>
                      <a:endParaRPr lang="zh-TW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69850" marR="69850" marT="50800" marB="508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784629"/>
                  </a:ext>
                </a:extLst>
              </a:tr>
              <a:tr h="1910843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lang="zh-TW" sz="1400" dirty="0">
                          <a:effectLst/>
                        </a:rPr>
                        <a:t>週期三</a:t>
                      </a:r>
                      <a:r>
                        <a:rPr lang="en-US" sz="1400" dirty="0">
                          <a:effectLst/>
                        </a:rPr>
                        <a:t> 2015</a:t>
                      </a:r>
                      <a:r>
                        <a:rPr lang="zh-TW" sz="1400" dirty="0">
                          <a:effectLst/>
                        </a:rPr>
                        <a:t>／</a:t>
                      </a:r>
                      <a:r>
                        <a:rPr lang="en-US" sz="1400" dirty="0">
                          <a:effectLst/>
                        </a:rPr>
                        <a:t>2022</a:t>
                      </a:r>
                      <a:r>
                        <a:rPr lang="zh-TW" sz="1400" dirty="0">
                          <a:effectLst/>
                        </a:rPr>
                        <a:t>迄今 後疫情財政擴張／儲備武器化</a:t>
                      </a:r>
                      <a:endParaRPr lang="zh-TW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69850" marR="69850" marT="50800" marB="5080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lang="zh-TW" sz="1400" dirty="0">
                          <a:effectLst/>
                        </a:rPr>
                        <a:t>約</a:t>
                      </a:r>
                      <a:r>
                        <a:rPr lang="en-US" sz="1400" dirty="0">
                          <a:effectLst/>
                        </a:rPr>
                        <a:t> $1,057 → $5,589 +429%</a:t>
                      </a:r>
                      <a:r>
                        <a:rPr lang="zh-TW" sz="1400" dirty="0">
                          <a:effectLst/>
                        </a:rPr>
                        <a:t>，歷時約</a:t>
                      </a:r>
                      <a:r>
                        <a:rPr lang="en-US" sz="1400" dirty="0">
                          <a:effectLst/>
                        </a:rPr>
                        <a:t>10.5</a:t>
                      </a:r>
                      <a:r>
                        <a:rPr lang="zh-TW" sz="1400" dirty="0">
                          <a:effectLst/>
                        </a:rPr>
                        <a:t>年 </a:t>
                      </a:r>
                      <a:endParaRPr lang="en-US" altLang="zh-TW" sz="1400" dirty="0">
                        <a:effectLst/>
                      </a:endParaRP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lang="zh-TW" sz="1400" dirty="0">
                          <a:effectLst/>
                        </a:rPr>
                        <a:t>（若以</a:t>
                      </a:r>
                      <a:r>
                        <a:rPr lang="en-US" sz="1400" dirty="0">
                          <a:effectLst/>
                        </a:rPr>
                        <a:t>2022</a:t>
                      </a:r>
                      <a:r>
                        <a:rPr lang="zh-TW" sz="1400" dirty="0">
                          <a:effectLst/>
                        </a:rPr>
                        <a:t>年</a:t>
                      </a:r>
                      <a:r>
                        <a:rPr lang="en-US" sz="1400" dirty="0">
                          <a:effectLst/>
                        </a:rPr>
                        <a:t>10</a:t>
                      </a:r>
                      <a:r>
                        <a:rPr lang="zh-TW" sz="1400" dirty="0">
                          <a:effectLst/>
                        </a:rPr>
                        <a:t>月加速起點：</a:t>
                      </a:r>
                      <a:r>
                        <a:rPr lang="en-US" sz="1400" dirty="0">
                          <a:effectLst/>
                        </a:rPr>
                        <a:t>$1,615</a:t>
                      </a:r>
                      <a:r>
                        <a:rPr lang="zh-TW" altLang="en-US" sz="1400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→$5,589</a:t>
                      </a:r>
                      <a:r>
                        <a:rPr lang="zh-TW" sz="1400" dirty="0">
                          <a:effectLst/>
                        </a:rPr>
                        <a:t>，</a:t>
                      </a:r>
                      <a:r>
                        <a:rPr lang="en-US" sz="1400" dirty="0">
                          <a:effectLst/>
                        </a:rPr>
                        <a:t>+246%</a:t>
                      </a:r>
                      <a:r>
                        <a:rPr lang="zh-TW" sz="1400" dirty="0">
                          <a:effectLst/>
                        </a:rPr>
                        <a:t>，約</a:t>
                      </a:r>
                      <a:r>
                        <a:rPr lang="en-US" sz="1400" dirty="0">
                          <a:effectLst/>
                        </a:rPr>
                        <a:t>3.3</a:t>
                      </a:r>
                      <a:r>
                        <a:rPr lang="zh-TW" sz="1400" dirty="0">
                          <a:effectLst/>
                        </a:rPr>
                        <a:t>年）</a:t>
                      </a:r>
                      <a:endParaRPr lang="zh-TW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69850" marR="69850" marT="50800" marB="508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lang="zh-TW" sz="1400" dirty="0">
                          <a:effectLst/>
                        </a:rPr>
                        <a:t>後疫情財政與貨幣雙寬鬆、通膨捲土重來、俄烏戰爭與儲備凍結先例、美中地緣競爭、全球債務約</a:t>
                      </a:r>
                      <a:r>
                        <a:rPr lang="en-US" sz="1400" dirty="0">
                          <a:effectLst/>
                        </a:rPr>
                        <a:t>348</a:t>
                      </a:r>
                      <a:r>
                        <a:rPr lang="zh-TW" sz="1400" dirty="0">
                          <a:effectLst/>
                        </a:rPr>
                        <a:t>兆美元、央行結構性購金</a:t>
                      </a:r>
                      <a:endParaRPr lang="zh-TW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69850" marR="69850" marT="50800" marB="508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200"/>
                        </a:spcAft>
                      </a:pPr>
                      <a:r>
                        <a:rPr lang="zh-TW" sz="1800" b="1" dirty="0">
                          <a:solidFill>
                            <a:srgbClr val="C00000"/>
                          </a:solidFill>
                          <a:effectLst/>
                        </a:rPr>
                        <a:t>尚未出現：需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</a:rPr>
                        <a:t>Fed</a:t>
                      </a:r>
                      <a:r>
                        <a:rPr lang="zh-TW" sz="1800" b="1" dirty="0">
                          <a:solidFill>
                            <a:srgbClr val="C00000"/>
                          </a:solidFill>
                          <a:effectLst/>
                        </a:rPr>
                        <a:t>強力持續推升實質利率至限制性區間（如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</a:rPr>
                        <a:t>1980</a:t>
                      </a:r>
                      <a:r>
                        <a:rPr lang="zh-TW" sz="1800" b="1" dirty="0">
                          <a:solidFill>
                            <a:srgbClr val="C00000"/>
                          </a:solidFill>
                          <a:effectLst/>
                        </a:rPr>
                        <a:t>年），或地緣政治／財政壓力系統性緩解（如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effectLst/>
                        </a:rPr>
                        <a:t>2011</a:t>
                      </a:r>
                      <a:r>
                        <a:rPr lang="zh-TW" sz="1800" b="1" dirty="0">
                          <a:solidFill>
                            <a:srgbClr val="C00000"/>
                          </a:solidFill>
                          <a:effectLst/>
                        </a:rPr>
                        <a:t>年後）</a:t>
                      </a:r>
                      <a:endParaRPr lang="zh-TW" sz="1800" b="1" dirty="0">
                        <a:solidFill>
                          <a:srgbClr val="C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69850" marR="69850" marT="50800" marB="508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694505"/>
                  </a:ext>
                </a:extLst>
              </a:tr>
            </a:tbl>
          </a:graphicData>
        </a:graphic>
      </p:graphicFrame>
      <p:sp>
        <p:nvSpPr>
          <p:cNvPr id="6" name="Text 18">
            <a:extLst>
              <a:ext uri="{FF2B5EF4-FFF2-40B4-BE49-F238E27FC236}">
                <a16:creationId xmlns:a16="http://schemas.microsoft.com/office/drawing/2014/main" id="{684BB065-068B-44EC-A54E-F0DAFC194BE7}"/>
              </a:ext>
            </a:extLst>
          </p:cNvPr>
          <p:cNvSpPr/>
          <p:nvPr/>
        </p:nvSpPr>
        <p:spPr>
          <a:xfrm>
            <a:off x="7828384" y="2062705"/>
            <a:ext cx="3682177" cy="3908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08000"/>
              </a:lnSpc>
              <a:spcAft>
                <a:spcPts val="500"/>
              </a:spcAft>
              <a:buSzPct val="100000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68761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31089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風控複核．結論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風險複核與機構共識比較</a:t>
            </a:r>
            <a:endParaRPr lang="en-US" sz="2600" dirty="0"/>
          </a:p>
        </p:txBody>
      </p:sp>
      <p:pic>
        <p:nvPicPr>
          <p:cNvPr id="5" name="Image 0" descr="img/cofer_usd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571" y="1280160"/>
            <a:ext cx="5333694" cy="27794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6571" y="4348179"/>
            <a:ext cx="5333694" cy="1555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chemeClr val="tx2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「去美元化」敘事可能被誇大：IMF COFER顯示美元占全球儲備比重2026Q1不降反升至57.13%（前季56.42%），</a:t>
            </a:r>
            <a:r>
              <a:rPr lang="en-US" sz="1400" dirty="0" err="1">
                <a:solidFill>
                  <a:schemeClr val="tx2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IMF說明主因是美元升值的估值效應</a:t>
            </a:r>
            <a:endParaRPr lang="en-US" sz="1400" dirty="0">
              <a:solidFill>
                <a:schemeClr val="tx2">
                  <a:lumMod val="50000"/>
                </a:schemeClr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algn="l">
              <a:lnSpc>
                <a:spcPct val="108000"/>
              </a:lnSpc>
              <a:spcAft>
                <a:spcPts val="600"/>
              </a:spcAft>
              <a:buSzPct val="100000"/>
            </a:pPr>
            <a:endParaRPr lang="en-US" sz="1400" dirty="0">
              <a:solidFill>
                <a:schemeClr val="tx2">
                  <a:lumMod val="50000"/>
                </a:schemeClr>
              </a:solidFill>
            </a:endParaRPr>
          </a:p>
          <a:p>
            <a:pPr marL="177800" indent="-177800" algn="l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chemeClr val="tx2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ECB報告承認黃金占比躍升「主要反映金價重估效應」（2025年金價漲約60%），非</a:t>
            </a:r>
            <a:r>
              <a:rPr lang="zh-TW" altLang="en-US" sz="1400" dirty="0">
                <a:solidFill>
                  <a:schemeClr val="tx2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完全是</a:t>
            </a:r>
            <a:r>
              <a:rPr lang="en-US" sz="1400" dirty="0" err="1">
                <a:solidFill>
                  <a:schemeClr val="tx2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新增買盤；若金價回檔，占比會機械性回吐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0" y="1170432"/>
            <a:ext cx="5790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機構黃金價格預測比較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0008082"/>
              </p:ext>
            </p:extLst>
          </p:nvPr>
        </p:nvGraphicFramePr>
        <p:xfrm>
          <a:off x="5943599" y="1508760"/>
          <a:ext cx="5790896" cy="2366991"/>
        </p:xfrm>
        <a:graphic>
          <a:graphicData uri="http://schemas.openxmlformats.org/drawingml/2006/table">
            <a:tbl>
              <a:tblPr/>
              <a:tblGrid>
                <a:gridCol w="2524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3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3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88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機構（報告）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2026年底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基準情境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2027年底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基準情境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J.P. Morgan Metals Weekly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（10 Jul 2026）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$4,500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（4Q26均值）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$5,000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（4Q27均值）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9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UBS Global Precious Metals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Comment（16 Jul 2026）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$5,000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$5,000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（維持不變）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TW" sz="1400" dirty="0">
                          <a:latin typeface="Microsoft JhengHei" charset="0"/>
                          <a:ea typeface="Microsoft JhengHei" charset="0"/>
                          <a:cs typeface="Microsoft JhengHei" charset="0"/>
                        </a:rPr>
                        <a:t>BNP</a:t>
                      </a:r>
                      <a:r>
                        <a:rPr lang="zh-TW" altLang="en-US" sz="1400" dirty="0">
                          <a:latin typeface="Microsoft JhengHei" charset="0"/>
                          <a:ea typeface="Microsoft JhengHei" charset="0"/>
                          <a:cs typeface="Microsoft JhengHei" charset="0"/>
                        </a:rPr>
                        <a:t> </a:t>
                      </a:r>
                      <a:r>
                        <a:rPr lang="en-US" altLang="zh-TW" sz="1400" dirty="0">
                          <a:latin typeface="Microsoft JhengHei" charset="0"/>
                          <a:ea typeface="Microsoft JhengHei" charset="0"/>
                          <a:cs typeface="Microsoft JhengHei" charset="0"/>
                        </a:rPr>
                        <a:t>Paris 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Microsoft JhengHei" charset="0"/>
                          <a:ea typeface="Microsoft JhengHei" charset="0"/>
                          <a:cs typeface="Microsoft JhengHei" charset="0"/>
                        </a:rPr>
                        <a:t>$4,700</a:t>
                      </a: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Microsoft JhengHei" charset="0"/>
                          <a:ea typeface="Microsoft JhengHei" charset="0"/>
                          <a:cs typeface="Microsoft JhengHei" charset="0"/>
                        </a:rPr>
                        <a:t>$5,330</a:t>
                      </a: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470600"/>
                  </a:ext>
                </a:extLst>
              </a:tr>
              <a:tr h="5057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TW" altLang="en-US" sz="14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charset="0"/>
                        </a:rPr>
                        <a:t>中金公司研究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TW" sz="14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$4800</a:t>
                      </a: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943600" y="4063938"/>
            <a:ext cx="5790895" cy="2029968"/>
          </a:xfrm>
          <a:prstGeom prst="roundRect">
            <a:avLst>
              <a:gd name="adj" fmla="val 3604"/>
            </a:avLst>
          </a:prstGeom>
          <a:solidFill>
            <a:schemeClr val="tx2">
              <a:lumMod val="50000"/>
            </a:schemeClr>
          </a:solidFill>
          <a:ln/>
        </p:spPr>
      </p:sp>
      <p:sp>
        <p:nvSpPr>
          <p:cNvPr id="11" name="Text 7"/>
          <p:cNvSpPr/>
          <p:nvPr/>
        </p:nvSpPr>
        <p:spPr>
          <a:xfrm>
            <a:off x="6172200" y="4063938"/>
            <a:ext cx="5333695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2400" b="1" dirty="0" err="1">
                <a:solidFill>
                  <a:schemeClr val="accent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</a:t>
            </a:r>
            <a:endParaRPr lang="en-US" sz="2400" b="1" dirty="0">
              <a:solidFill>
                <a:schemeClr val="accent4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 algn="l">
              <a:lnSpc>
                <a:spcPct val="118000"/>
              </a:lnSpc>
              <a:buNone/>
            </a:pPr>
            <a:endParaRPr lang="en-US" sz="1400" b="1" dirty="0">
              <a:solidFill>
                <a:schemeClr val="accent4">
                  <a:lumMod val="20000"/>
                  <a:lumOff val="80000"/>
                </a:schemeClr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 algn="l">
              <a:lnSpc>
                <a:spcPct val="118000"/>
              </a:lnSpc>
              <a:buNone/>
            </a:pPr>
            <a:r>
              <a:rPr lang="en-US" sz="1400" b="1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黃金</a:t>
            </a:r>
            <a:r>
              <a:rPr lang="zh-TW" altLang="en-US" sz="14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長期上漲趨勢</a:t>
            </a:r>
            <a:endParaRPr lang="en-US" sz="1400" b="1" dirty="0">
              <a:solidFill>
                <a:schemeClr val="accent4">
                  <a:lumMod val="20000"/>
                  <a:lumOff val="80000"/>
                </a:schemeClr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 algn="l">
              <a:lnSpc>
                <a:spcPct val="118000"/>
              </a:lnSpc>
              <a:buNone/>
            </a:pPr>
            <a:endParaRPr lang="en-US" sz="1400" b="1" dirty="0">
              <a:solidFill>
                <a:schemeClr val="accent4">
                  <a:lumMod val="20000"/>
                  <a:lumOff val="80000"/>
                </a:schemeClr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 algn="l">
              <a:lnSpc>
                <a:spcPct val="118000"/>
              </a:lnSpc>
              <a:buNone/>
            </a:pPr>
            <a:r>
              <a:rPr lang="en-US" sz="1400" b="1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緩步、多年期、有機制性買盤支撐</a:t>
            </a:r>
            <a:endParaRPr lang="en-US" sz="14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457200" y="642823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資料來源：IMF Data Brief (1 Jul 2026)；ECB (2 Jun 2026)；J.P. Morgan《Metals Weekly》(10 Jul 2026) p.8；UBS《Global Precious Metals Comment》(16 Jul 2026) p.35-37；華泰固收研究 (6 Aug 2026)。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424160" y="6428232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/ 06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6382512"/>
            <a:ext cx="11277295" cy="0"/>
          </a:xfrm>
          <a:prstGeom prst="line">
            <a:avLst/>
          </a:prstGeom>
          <a:noFill/>
          <a:ln w="9525">
            <a:solidFill>
              <a:srgbClr val="C9CFD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cKinsey Colour">
      <a:dk1>
        <a:sysClr val="windowText" lastClr="000000"/>
      </a:dk1>
      <a:lt1>
        <a:sysClr val="window" lastClr="FFFFFF"/>
      </a:lt1>
      <a:dk2>
        <a:srgbClr val="1F3A5F"/>
      </a:dk2>
      <a:lt2>
        <a:srgbClr val="F2F2F2"/>
      </a:lt2>
      <a:accent1>
        <a:srgbClr val="1F3A5F"/>
      </a:accent1>
      <a:accent2>
        <a:srgbClr val="E31937"/>
      </a:accent2>
      <a:accent3>
        <a:srgbClr val="999999"/>
      </a:accent3>
      <a:accent4>
        <a:srgbClr val="FFC72C"/>
      </a:accent4>
      <a:accent5>
        <a:srgbClr val="0070C0"/>
      </a:accent5>
      <a:accent6>
        <a:srgbClr val="00B050"/>
      </a:accent6>
      <a:hlink>
        <a:srgbClr val="0563C1"/>
      </a:hlink>
      <a:folHlink>
        <a:srgbClr val="954F72"/>
      </a:folHlink>
    </a:clrScheme>
    <a:fontScheme name="Century-微軟正黑體">
      <a:majorFont>
        <a:latin typeface="Century"/>
        <a:ea typeface="微軟正黑體"/>
        <a:cs typeface=""/>
      </a:majorFont>
      <a:minorFont>
        <a:latin typeface="Century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967</Words>
  <Application>Microsoft Office PowerPoint</Application>
  <PresentationFormat>寬螢幕</PresentationFormat>
  <Paragraphs>125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Century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陳冠升</cp:lastModifiedBy>
  <cp:revision>39</cp:revision>
  <dcterms:created xsi:type="dcterms:W3CDTF">2026-08-13T08:58:01Z</dcterms:created>
  <dcterms:modified xsi:type="dcterms:W3CDTF">2026-08-14T08:11:47Z</dcterms:modified>
</cp:coreProperties>
</file>